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27432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Antelligen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AI Multi-Agent 기반 투자 인텔리전스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"AI가 대신 투자하는 시대가 아니라,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AI의 판단을 사람이 검증하고 통제하는 구조"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5669280" cy="733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736" y="1325651"/>
            <a:ext cx="503529" cy="50269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3257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32576" y="1097280"/>
            <a:ext cx="566928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5456" y="1325651"/>
            <a:ext cx="503529" cy="50269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6448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1280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5872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0704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5296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0128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84720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9552" y="3931691"/>
            <a:ext cx="2194560" cy="13716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34144" y="4068851"/>
            <a:ext cx="457200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5532348"/>
            <a:ext cx="11430000" cy="77701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1097280"/>
            <a:ext cx="560832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0" y="1097280"/>
            <a:ext cx="560832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서비스 개발 동기 및 목적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왜 우리는 멀티 에이전트인가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문제 요약: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단일 LLM은 복잡한 문제 분해 어려움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데이터 수집·분석·의사결정이 한 모델에 과도 의존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다양한 도메인(주식·뉴스·SNS·재무) 통합 어려움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의사결정 흐름 : 정보 수집 → 분석 → 판단 → 추천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현실의 의사결정은 여러 전문가의 협업 형태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기존 AI 시스템은 현실 협업을 반영하지 못함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Antelligen의 5가지 목표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구조적 AI 시스템 구축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확장 가능한 아키텍처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현실적 협업 흐름 반영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사용자 맞춤 분석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반복 분석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736" y="1280388"/>
            <a:ext cx="10972800" cy="137160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9136" y="2926308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83536" y="4572228"/>
            <a:ext cx="7315200" cy="13716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2928366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89632" y="4574286"/>
            <a:ext cx="7315200" cy="13716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목표 시장 및 고객 요구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글로벌 AI 에이전트 시장 규모 : $76B (2025) → $1,820B (2033) · CAGR ≈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국내 AI·BFSI 시장 : $5.47B (2024) → $53.87B (2032) · 알고리즘 트레이딩·사기 탐지·리스크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국내 금융 AI SW + 클라우드 구성 비중 : AI SW 48.5% · 클라우드 34.9% · SME·개인 투자자 타겟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예측 분석·의사결정 시장 — 2030년 약 $82.35B 규모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3749040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6336" y="1371600"/>
            <a:ext cx="64008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8665" y="1097280"/>
            <a:ext cx="3749040" cy="733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3145" y="1371600"/>
            <a:ext cx="640080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425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44255" y="1097280"/>
            <a:ext cx="3749040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98736" y="1371600"/>
            <a:ext cx="64008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856" y="5120868"/>
            <a:ext cx="11430000" cy="128038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고객의 핵심 Pain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10" y="3108961"/>
            <a:ext cx="3383280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Observability (가시성 / 디버깅)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멀티 에이전트는 블랙박스화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실패 원인 파악 어려움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Tracing · 의사결정 시각화 · Tool 사용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Cost Control (비용 통제)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토큰 비용 급증 (Runaway Cost)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비효율 에이전트 루프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비용 추적 · 예산 관리 · 작업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Governance / 보안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금융 데이터 민감성 / PII 유출 위험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Prompt Injection 위험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필요: 데이터 마스킹 · 정책 필터링 ·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핵심 인사이트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“신뢰와 통제가 없는 AI는 금융에서 실패한다”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554708"/>
            <a:ext cx="73152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856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1856" y="2267940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856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981172"/>
            <a:ext cx="73152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694404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56" y="3694404"/>
            <a:ext cx="73152" cy="63985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4015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4015" y="1554708"/>
            <a:ext cx="73152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4015" y="2267940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4015" y="2267940"/>
            <a:ext cx="73152" cy="63985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4015" y="2981172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015" y="2981172"/>
            <a:ext cx="73152" cy="63985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4015" y="3694404"/>
            <a:ext cx="566928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4015" y="3694404"/>
            <a:ext cx="73152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937760"/>
            <a:ext cx="1143000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856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4015" y="1554708"/>
            <a:ext cx="566928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경쟁사 분석 — 기술 프레임워크 vs 서비스형 플랫폼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541" y="1097280"/>
            <a:ext cx="561441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기술 프레임워크 경쟁자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LangChain / LangGraph : 표준 프레임워크 · 우리도 사용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CrewAI : Role-based 에이전트 · 단순 협업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AutoGen (MS) : 대화형 에이전트 · 연구용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Semantic Kernel : MS Copilot 통합 중심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1702" y="1097280"/>
            <a:ext cx="5614417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서비스형 플랫폼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Lindy : 노코드 AI 빌더 · 빠른 배포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AgentGPT / AutoGPT : 목표 기반 자동 실행 (프로토타입)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기존 금융 도구 : 알고리즘 트레이딩 중심 · 보안 강화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Antelligen (우리) : 검증 가능한 의사결정 과정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40" y="5029199"/>
            <a:ext cx="1137513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시장 공백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“AI 빌더와 트레이딩 도구는 많지만, ‘검증 가능한 의사결정 과정’을 제공하는 서비스는 적다”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374904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8665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8665" y="1097280"/>
            <a:ext cx="374904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4255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44255" y="1097280"/>
            <a:ext cx="3749040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5486400"/>
            <a:ext cx="11430000" cy="914171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1856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8665" y="1097280"/>
            <a:ext cx="3749040" cy="411480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서비스 차별화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862" y="1233930"/>
            <a:ext cx="859538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01 신뢰성 · 거버넌스 (핵심 경쟁력)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Tracing — LangSmith로 LLM I/O·latency 추적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Source Tier 가중치 — DART 1.0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검증 가능한 의사결정 과정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4460" y="1166622"/>
            <a:ext cx="241401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02 고도화된 데이터 통합 (넓이 × 깊이)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심층 RAG — DART 사업보고서 → 사업개요 LLM 요약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5개 멀티 에이전트 (News·Disclosure·Finance·Sentiment·Macro)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0661" y="1166622"/>
            <a:ext cx="2414019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03 UX 차별화 (본질 파악·무결성·간결성)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사업개요 카드 — ‘이 회사 본질’ 즉시 파악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부분 실패 표시 — ‘공시 X, 뉴스+재무로 BULLISH’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한국·미국 종목 동일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40" y="5811137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결론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“검증 가능한 의사결정 과정과 안전한 실행 구조를 제공하는 서비스가 시장 승자가 된다”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188491"/>
            <a:ext cx="2789529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0860" y="1417548"/>
            <a:ext cx="731520" cy="73174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15056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649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6496" y="1188491"/>
            <a:ext cx="2789529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5500" y="1417548"/>
            <a:ext cx="731520" cy="731748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9696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113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1136" y="1188491"/>
            <a:ext cx="2789529" cy="7338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70140" y="1417548"/>
            <a:ext cx="731520" cy="73174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4335" y="2194560"/>
            <a:ext cx="137769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77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5776" y="1188491"/>
            <a:ext cx="2789529" cy="733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04780" y="1417548"/>
            <a:ext cx="731520" cy="731748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856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4297908"/>
            <a:ext cx="73152" cy="9141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7225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7225" y="4297908"/>
            <a:ext cx="73152" cy="91417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61376" y="4297908"/>
            <a:ext cx="3749040" cy="91417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61376" y="4297908"/>
            <a:ext cx="73152" cy="91417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856" y="5440451"/>
            <a:ext cx="11430000" cy="91417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185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6496" y="1188491"/>
            <a:ext cx="2789529" cy="22857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시장 진입 전략 및 사용자 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541" y="2285999"/>
            <a:ext cx="2734057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1차 타겟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개인 투자자 — '이 종목이 오늘 왜 떨어졌지?' 검색자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(차트+사건+원인 한 화면)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4181" y="2285999"/>
            <a:ext cx="273405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2차 타겟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신입 애널리스트 / 투자 콘텐츠 크리에이터 / 학생 투자 동아리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68821" y="2285999"/>
            <a:ext cx="273405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가격 차별화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블룸버그 월 200만 원+ → 한국 공시 중심 + 합리적 가격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0621" y="2697478"/>
            <a:ext cx="2459738" cy="20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플랫폼 진화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Web → PWA(홈 화면 추가) → 모바일 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420" y="4343399"/>
            <a:ext cx="3328417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채널 — SEO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종목별 ‘왜 떨어졌나’ 페이지 자동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7182" y="4343399"/>
            <a:ext cx="332841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채널 — 커뮤니티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디스코드 / 네이버 종목 카페 / 주식 갤러리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1939" y="4343399"/>
            <a:ext cx="332841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채널 — 인플루언서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투자 유튜버 협업 + 분석 데이터 콘텐츠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523847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948254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372660"/>
            <a:ext cx="11275161" cy="83324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23847"/>
            <a:ext cx="11275161" cy="20574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목표 성과 (KPI)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사용량 (Engagement)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" y="2485134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품질 (Quality)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" y="3909567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비용 효율 (Efficiency)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" y="5334000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사업성 (Business)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8" y="5797297"/>
            <a:ext cx="11274556" cy="82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핵심 KPI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유료 전환율 3%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월 매출 100만 원 (1차 마일스톤)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앱 스토어 출시 (iOS / Android)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73152" cy="20114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736" y="1234440"/>
            <a:ext cx="686409" cy="4114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4015" y="109728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4015" y="1097280"/>
            <a:ext cx="73152" cy="20114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6896" y="1234440"/>
            <a:ext cx="685190" cy="4114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329184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856" y="3291840"/>
            <a:ext cx="73152" cy="20114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4736" y="3429000"/>
            <a:ext cx="686409" cy="41148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4015" y="329184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4015" y="3291840"/>
            <a:ext cx="73152" cy="20114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6896" y="3429000"/>
            <a:ext cx="685190" cy="4114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1856" y="5577611"/>
            <a:ext cx="11430000" cy="77701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1856" y="109728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4015" y="1097280"/>
            <a:ext cx="5577840" cy="20114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서비스 확장 방안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9660" y="1275839"/>
            <a:ext cx="4517139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01 시장 · 자산 확장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일본(니케이) / 유럽 / 신흥국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암호화폐 / 원자재 / 채권 / 리츠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대안 데이터 (커뮤니티 / 위성 / 카드 소비)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1821" y="1275839"/>
            <a:ext cx="451713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02 기능 확장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포트폴리오 분석 / 실시간 알림 / 백테스트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일일 리포트 / 주간 인사이트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종목 비교 / 사용자 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9660" y="3470400"/>
            <a:ext cx="4517139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03 수익 모델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Free — 광고 / 기본 분석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Pro — 월 9.9k / 무제한 분석 + 알림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API — B2B 데이터 라이선스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1821" y="3470400"/>
            <a:ext cx="4517138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04 데이터 네트워크 효과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사용자 행동 → 검증 사례 축적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규칙 개선 → 정확도 향상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1년 운영 시 후발주자 진입 어려움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097280"/>
            <a:ext cx="2880969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37411" y="1280388"/>
            <a:ext cx="548640" cy="5486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1100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21100" y="1097280"/>
            <a:ext cx="2880969" cy="733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6656" y="1280388"/>
            <a:ext cx="548640" cy="54864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345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0345" y="1097280"/>
            <a:ext cx="2880969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5900" y="1280388"/>
            <a:ext cx="548640" cy="54864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18371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18371" y="1097280"/>
            <a:ext cx="2880969" cy="733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85145" y="1280388"/>
            <a:ext cx="548640" cy="5486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856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21100" y="1097280"/>
            <a:ext cx="2880969" cy="52120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기술 스택 한눈에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40" y="1920238"/>
            <a:ext cx="2825500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Python 3.13 / FastAPI ≥ 0.115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Uvicorn (port 33333)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PostgreSQL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8481" y="1920238"/>
            <a:ext cx="2825499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AI / LLM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OpenAI (GPT-4o · gpt-5-mini · o1)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LangChain · LangGraph · LangSmith (tracing)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421" y="1920238"/>
            <a:ext cx="282549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Market &amp; Data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yfinance · pykrx · FRED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Finnhub · GDELT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DART · SEC EDGAR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6361" y="1920238"/>
            <a:ext cx="2825499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Next.js 16 (App Router · Turbopack)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React 19 / TypeScript 5.9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097280"/>
            <a:ext cx="274320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61385" y="1280388"/>
            <a:ext cx="365760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63696" y="1097280"/>
            <a:ext cx="4846320" cy="63985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6345" y="1280388"/>
            <a:ext cx="365760" cy="2743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3545" y="1097280"/>
            <a:ext cx="283464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2194560"/>
            <a:ext cx="2249424" cy="73380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6528" y="2422931"/>
            <a:ext cx="640080" cy="63985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65" y="3749268"/>
            <a:ext cx="1792224" cy="228371"/>
          </a:xfrm>
          <a:prstGeom prst="rect">
            <a:avLst/>
          </a:prstGeom>
          <a:solidFill>
            <a:srgbClr val="C4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85897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85897" y="2194560"/>
            <a:ext cx="2249424" cy="7338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0569" y="2422931"/>
            <a:ext cx="64008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3888" y="3749268"/>
            <a:ext cx="1792224" cy="22837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98720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8720" y="2194560"/>
            <a:ext cx="2249424" cy="733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3392" y="2422931"/>
            <a:ext cx="64008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27929" y="3749268"/>
            <a:ext cx="1792224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2761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2761" y="2194560"/>
            <a:ext cx="2249424" cy="73380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7433" y="2422931"/>
            <a:ext cx="640080" cy="63985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0752" y="3749268"/>
            <a:ext cx="1792224" cy="228371"/>
          </a:xfrm>
          <a:prstGeom prst="rect">
            <a:avLst/>
          </a:prstGeom>
          <a:solidFill>
            <a:srgbClr val="F5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25584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25584" y="2194560"/>
            <a:ext cx="2249424" cy="73380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30256" y="2422931"/>
            <a:ext cx="640080" cy="63985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54793" y="3749268"/>
            <a:ext cx="1792224" cy="228371"/>
          </a:xfrm>
          <a:prstGeom prst="rect">
            <a:avLst/>
          </a:prstGeom>
          <a:solidFill>
            <a:srgbClr val="7C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05737" y="4114800"/>
            <a:ext cx="182880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18560" y="4114800"/>
            <a:ext cx="182880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2601" y="4114800"/>
            <a:ext cx="182880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5424" y="4114800"/>
            <a:ext cx="182880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59465" y="4114800"/>
            <a:ext cx="182880" cy="22837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34896" y="4435068"/>
            <a:ext cx="8503920" cy="50269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96025" y="4983708"/>
            <a:ext cx="229209" cy="18310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34896" y="5212080"/>
            <a:ext cx="8503920" cy="502691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96025" y="5760720"/>
            <a:ext cx="229209" cy="18310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34896" y="5989091"/>
            <a:ext cx="8503920" cy="54864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856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85897" y="2194560"/>
            <a:ext cx="2249424" cy="182902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멀티 에이전트 오케스트레이션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1381" y="1252980"/>
            <a:ext cx="4791459" cy="3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메인 오케스트레이터 (agent)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병렬 호출: asyncio.gather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9541" y="3108960"/>
            <a:ext cx="2194562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News Agent — SERP + LLM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Source Tier: MEDIUM (0.7)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12971" y="3108960"/>
            <a:ext cx="2194563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Disclosure Agent — DART + LLM + RAG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Source Tier: HIGH (1.0)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6404" y="3108960"/>
            <a:ext cx="2194562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Finance Agent — yfinance + DART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Source Tier: HIGH (1.0)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39838" y="3108960"/>
            <a:ext cx="2194561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Sentiment Agent — Reddit + SNS + GPT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Source Tier: LOW (0.3)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3268" y="3108960"/>
            <a:ext cx="2194562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Macro Agent — YouTube + LLM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Source Tier: MEDIUM (0.7)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62581" y="4541010"/>
            <a:ext cx="8449058" cy="29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Source Tier 가중치 적용 (HIGH 1.0 / MEDIUM 0.7 / LOW 0.3)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LangGraph → 통합 시그널 합성 → LangSmith Tracing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결과: 🟢 Bullish / ⚪ Neutral / 🔴 Bearish +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" y="0"/>
            <a:ext cx="12189561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" y="822960"/>
            <a:ext cx="12189561" cy="54864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53216" y="183108"/>
            <a:ext cx="777849" cy="45742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554708"/>
            <a:ext cx="1143000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1856" y="1554708"/>
            <a:ext cx="1554480" cy="63985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7776" y="1691868"/>
            <a:ext cx="640080" cy="365531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5776" y="1783080"/>
            <a:ext cx="2468880" cy="183108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75776" y="1783080"/>
            <a:ext cx="2468880" cy="183108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856" y="2267940"/>
            <a:ext cx="1143000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856" y="2267940"/>
            <a:ext cx="1554480" cy="6398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7776" y="2405100"/>
            <a:ext cx="640080" cy="36553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5776" y="2496312"/>
            <a:ext cx="2468880" cy="183108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75776" y="2496312"/>
            <a:ext cx="1728825" cy="183108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1856" y="2981172"/>
            <a:ext cx="1143000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1856" y="2981172"/>
            <a:ext cx="1554480" cy="63985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7776" y="3118332"/>
            <a:ext cx="640080" cy="365531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5776" y="3209544"/>
            <a:ext cx="2468880" cy="183108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75776" y="3209544"/>
            <a:ext cx="1235049" cy="183108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856" y="3694404"/>
            <a:ext cx="1143000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" y="3694404"/>
            <a:ext cx="1554480" cy="63985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7776" y="3831564"/>
            <a:ext cx="640080" cy="365531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5776" y="3922776"/>
            <a:ext cx="2468880" cy="183108"/>
          </a:xfrm>
          <a:prstGeom prst="rect">
            <a:avLst/>
          </a:prstGeom>
          <a:solidFill>
            <a:srgbClr val="1B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75776" y="3922776"/>
            <a:ext cx="741273" cy="183108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1856" y="4800600"/>
            <a:ext cx="7772399" cy="1325651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2025" y="4800600"/>
            <a:ext cx="3521049" cy="1917496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2025" y="4800600"/>
            <a:ext cx="73152" cy="1325651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1856" y="1554708"/>
            <a:ext cx="11430000" cy="6398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1856" y="4800600"/>
            <a:ext cx="7772399" cy="132565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Source Tier 가중치 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40" y="1767332"/>
            <a:ext cx="1499620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HIGH : 1.0  — DART · SEC · 미국 IB 공식 리포트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540" y="2480562"/>
            <a:ext cx="1499620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MEDIUM : 0.7 — Bloomberg · Reuters · WSJ · 한경 · 매경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40" y="3193795"/>
            <a:ext cx="1499620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MEDIUM_LOW : 0.5 — 국내 IB 공식 리포트 (buy-bias 보정)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540" y="3907028"/>
            <a:ext cx="1499620" cy="214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LOW : 0.3 — SNS · 일반 뉴스 · 커뮤니티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6261" y="4846320"/>
            <a:ext cx="3236979" cy="26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섹터 오버라이드 예시 — 엔터테인먼트: 팬덤 SNS 출처 가중치 보정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6261" y="5971032"/>
            <a:ext cx="3236979" cy="16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종합 시그널 산출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weighted_score = Σ(score × confidence × tier_w)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&gt; 0.2  →  Bullish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&lt; -0.2 → Bearish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else   → Neutral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주요 기능 한눈에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1. 종합 종목 분석 (/agent/query)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한 번의 요청 → 5개 에이전트 병렬 분석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결과: Bullish / Neutral / Bearish + Confidence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사업 개요 카드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3" y="2568446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2. 히스토리·인과관계 대시보드 (/dashboard)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종목 일봉 + 이상치 봉 자동 탐지 (5중 탐지기)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LLM 원인 추론 + 가설 신뢰도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" y="3860800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3. Sentiment 분석 (/sentiment)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Reddit + 네이버 종목토론 SNS 감정 점수화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GPT-5-mini 감정 분류 (positive / negative / neutral)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" y="5368544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4. 거시 경제 현황판 (/macro)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금리·유가·환율·경제 일정 자동 수집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Risk-ON / Risk-OFF 자동 판단 + LLM 근거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4h Redis 캐시로 응답 최적화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주요 기능 한눈에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5. Smart Money — 국내 자금 흐름 (/smart-money)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외국인 / 기관 / 개인 순매수 랭킹(당일)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집중 매수 종목 (3일/5일/10일 선택)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종목 클릭 → 최근 30일 투자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3" y="2290655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6. 글로벌 포트폴리오 (/smart-money/global-portfolio)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SEC 13F: Warren Buffett·Michael Burry·Cathie Wood 등 19명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신규편입 / 비중확대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3" y="3520606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7. 관심 종목 + 개인화 (/settings/watchlist)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테마별 종목 토글 등록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뉴스/유튜브 페이지에서 자동 필터링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" y="4750560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8. 회사 프로필 (/company-profile/{ticker})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DART + SEC EDGAR 통합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사업보고서 RAG → LLM 사업 개요 (7일 캐시)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" y="5980512"/>
            <a:ext cx="11256266" cy="3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9. 카카오 OAuth 인증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temp_token / user_token 분리 → 가입 전 기능 시연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9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시연 시나리오 주요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① 종목 분석 — 한국 종목 (삼성전자 005930)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5개 에이전트 병렬 분석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통합 시그널 + 사업개요 카드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Source Tier 분포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8" y="2605023"/>
            <a:ext cx="11274556" cy="26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② 종목 분석 — 미국 종목 (AAPL)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영어 뉴스 + yfinance 분기 EPS + SEC 8-K filing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동일 UI/UX로 동일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8" y="3470655"/>
            <a:ext cx="11274556" cy="26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③ 엔터 섹터 — HYBE (352820)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YouTube·X·Instagram 출처가 MEDIUM으로 승격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섹터 오버라이드가 시그널에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8" y="4336289"/>
            <a:ext cx="11274556" cy="26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④ Smart Money 대시보드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외국인 + 기관 집중 매수 종목 카드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Warren Buffett 포트폴리오 변동(신규편입/비중확대)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8" y="5201921"/>
            <a:ext cx="11274556" cy="26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⑤ 히스토리·인과관계 대시보드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NASDAQ 차트 + 이상치 마커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마커 클릭 → 원인 가설 자동 생성 (LLM)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8" y="6067553"/>
            <a:ext cx="11274556" cy="26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⑥ Redis 분산 락 데모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198" y="2242819"/>
            <a:ext cx="11247123" cy="1183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8" y="3657600"/>
            <a:ext cx="11247123" cy="52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8" y="5029200"/>
            <a:ext cx="11247123" cy="30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