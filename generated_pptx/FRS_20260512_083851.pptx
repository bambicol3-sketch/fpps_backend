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21" name="본문 첫 번째 줄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텍스트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제목 텍스트</a:t>
            </a:r>
          </a:p>
        </p:txBody>
      </p:sp>
      <p:sp>
        <p:nvSpPr>
          <p:cNvPr id="30" name="본문 첫 번째 줄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9" name="본문 첫 번째 줄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8" name="본문 첫 번째 줄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5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73" name="본문 첫 번째 줄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제목 텍스트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본문 첫 번째 줄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r>
              <a:t>FRS_20260512_074039.pptx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914399" y="1645921"/>
            <a:ext cx="10332723" cy="1005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6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FRS Report</a:t>
            </a:r>
          </a:p>
          <a:p>
            <a:r>
              <a:t>2026-05-12</a:t>
            </a:r>
          </a:p>
          <a:p>
            <a:r>
              <a:t>antelligen_presentation_ver1.1.pptx</a:t>
            </a:r>
          </a:p>
          <a:p>
            <a:r>
              <a:t>[원본] antelligen_presentation_ver1.1.pptx</a:t>
            </a:r>
          </a:p>
          <a:p>
            <a:r>
              <a:t>Antelligen</a:t>
            </a:r>
          </a:p>
          <a:p>
            <a:r>
              <a:t>AI Multi-Agent 기반 투자 인텔리전스 플랫폼</a:t>
            </a:r>
          </a:p>
          <a:p>
            <a:r>
              <a:t>"AI가 대신 투자하는 시대가 아니라,</a:t>
            </a:r>
          </a:p>
          <a:p>
            <a:r>
              <a:t>AI의 판단을 사람이 검증하고 통제하는 구조"</a:t>
            </a:r>
          </a:p>
          <a:p>
            <a:r>
              <a:t>발표일: 2026-05-02   |   팀: Antelligen (7인)</a:t>
            </a:r>
          </a:p>
          <a:p>
            <a:r>
              <a:t>Part 1. 문제 인식 (Problem)</a:t>
            </a:r>
          </a:p>
          <a:p>
            <a:r>
              <a:t>서비스 개발 동기 및 목적</a:t>
            </a:r>
          </a:p>
          <a:p>
            <a:r>
              <a:t>#2</a:t>
            </a:r>
          </a:p>
          <a:p>
            <a:r>
              <a:t>왜 우리는 멀티 에이전트인가</a:t>
            </a:r>
          </a:p>
          <a:p>
            <a:r>
              <a:t>단일 LLM 서비스의 구조적 한계</a:t>
            </a:r>
          </a:p>
          <a:p>
            <a:r>
              <a:t>• 단일 LLM은 복잡한 문제를 체계적으로 분해하기 어렵다</a:t>
            </a:r>
          </a:p>
          <a:p>
            <a:r>
              <a:t>• 데이터 수집·분석·의사결정이 하나의 모델에 과도 의존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914399" y="3108961"/>
            <a:ext cx="10332723" cy="5082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6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</a:p>
        </p:txBody>
      </p:sp>
      <p:sp>
        <p:nvSpPr>
          <p:cNvPr id="97" name="TextBox 4"/>
          <p:cNvSpPr txBox="1"/>
          <p:nvPr/>
        </p:nvSpPr>
        <p:spPr>
          <a:xfrm>
            <a:off x="914399" y="3931921"/>
            <a:ext cx="10332723" cy="682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</a:p>
        </p:txBody>
      </p:sp>
      <p:sp>
        <p:nvSpPr>
          <p:cNvPr id="98" name="TextBox 5"/>
          <p:cNvSpPr txBox="1"/>
          <p:nvPr/>
        </p:nvSpPr>
        <p:spPr>
          <a:xfrm>
            <a:off x="914399" y="5943600"/>
            <a:ext cx="10332723" cy="319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400">
                <a:solidFill>
                  <a:srgbClr val="88AACC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r>
              <a:t>FRS_20260512_074039.pptx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914399" y="1645921"/>
            <a:ext cx="10332723" cy="1005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6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• 다양한 도메인(주식·뉴스·SNS·재무) 통합 반영 불가</a:t>
            </a:r>
          </a:p>
          <a:p>
            <a:r>
              <a:t>• 확장성·유지보수에서 구조적 한계 발생</a:t>
            </a:r>
          </a:p>
          <a:p>
            <a:r>
              <a:t>현실의 의사결정은 협업 구조</a:t>
            </a:r>
          </a:p>
          <a:p>
            <a:r>
              <a:t>• 정보 수집 → 분석 → 판단 → 추천</a:t>
            </a:r>
          </a:p>
          <a:p>
            <a:r>
              <a:t>• 여러 전문가의 협업 형태로 이루어짐</a:t>
            </a:r>
          </a:p>
          <a:p>
            <a:r>
              <a:t>• 기존 AI 시스템은 이를 반영 못 함</a:t>
            </a:r>
          </a:p>
          <a:p>
            <a:r>
              <a:t>→ "역할별 AI 에이전트가 협업하는 구조" 가 필요</a:t>
            </a:r>
          </a:p>
          <a:p>
            <a:r>
              <a:t>Antelligen의 5가지 목표</a:t>
            </a:r>
          </a:p>
          <a:p>
            <a:r>
              <a:t>• 구조적 AI 시스템 구축 — 데이터 수집·분석·의사결정 에이전트 협업</a:t>
            </a:r>
          </a:p>
          <a:p>
            <a:r>
              <a:t>• 확장 가능한 아키텍처 — 새 기능 추가 시 기존 시스템 영향 최소화</a:t>
            </a:r>
          </a:p>
          <a:p>
            <a:r>
              <a:t>• 현실적 협업 흐름 반영 — 사람의 업무 방식 그대로 AI 협업으로 구현</a:t>
            </a:r>
          </a:p>
          <a:p>
            <a:r>
              <a:t>• 사용자 맞춤형 분석 — </a:t>
            </a:r>
          </a:p>
          <a:p>
            <a:r>
              <a:t>--- 템플릿 매칭 ---</a:t>
            </a:r>
          </a:p>
          <a:p>
            <a:r>
              <a:t>• Antelligen</a:t>
            </a:r>
          </a:p>
          <a:p>
            <a:r>
              <a:t>AI Multi-Agent 기반 투자 인텔리전스 플랫폼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914399" y="3108961"/>
            <a:ext cx="10332723" cy="5082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6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</a:p>
        </p:txBody>
      </p:sp>
      <p:sp>
        <p:nvSpPr>
          <p:cNvPr id="97" name="TextBox 4"/>
          <p:cNvSpPr txBox="1"/>
          <p:nvPr/>
        </p:nvSpPr>
        <p:spPr>
          <a:xfrm>
            <a:off x="914399" y="3931921"/>
            <a:ext cx="10332723" cy="682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</a:p>
        </p:txBody>
      </p:sp>
      <p:sp>
        <p:nvSpPr>
          <p:cNvPr id="98" name="TextBox 5"/>
          <p:cNvSpPr txBox="1"/>
          <p:nvPr/>
        </p:nvSpPr>
        <p:spPr>
          <a:xfrm>
            <a:off x="914399" y="5943600"/>
            <a:ext cx="10332723" cy="319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400">
                <a:solidFill>
                  <a:srgbClr val="88AACC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r>
              <a:t>FRS_20260512_074039.pptx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914399" y="1645921"/>
            <a:ext cx="10332723" cy="1005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6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"AI가 대신 투자하는 시대가 아니라,</a:t>
            </a:r>
          </a:p>
          <a:p>
            <a:r>
              <a:t>AI의 판단을 사람이 검증하고 통제하는 구조"</a:t>
            </a:r>
          </a:p>
          <a:p>
            <a:r>
              <a:t>발표일: 2026-05-02   |   팀: Antelligen (7인)</a:t>
            </a:r>
          </a:p>
          <a:p>
            <a:r>
              <a:t>Part 1. 문제 인식 (Problem)</a:t>
            </a:r>
          </a:p>
          <a:p>
            <a:r>
              <a:t>서비스 개발 동기 및 목적</a:t>
            </a:r>
          </a:p>
          <a:p>
            <a:r>
              <a:t>#2</a:t>
            </a:r>
          </a:p>
          <a:p>
            <a:r>
              <a:t>왜 우리는 멀티 에이전트인가</a:t>
            </a:r>
          </a:p>
          <a:p>
            <a:r>
              <a:t>단일 LLM 서비스의 구조적 한계</a:t>
            </a:r>
          </a:p>
          <a:p>
            <a:r>
              <a:t>• 단일 LLM은 복잡한 문제를 체계적으로 분해하기 어렵다</a:t>
            </a:r>
          </a:p>
          <a:p>
            <a:r>
              <a:t>• 데이터 수집·분석·의사결정이 하나의 모델에 과도 의존</a:t>
            </a:r>
          </a:p>
          <a:p>
            <a:r>
              <a:t>• 다양한 도메인(주식·뉴스·SNS·재무) 통합 </a:t>
            </a:r>
          </a:p>
          <a:p>
            <a:r>
              <a:t>• Antelligen</a:t>
            </a:r>
          </a:p>
          <a:p>
            <a:r>
              <a:t>AI Multi-Agent 기반 투자 인텔리전스 플랫폼</a:t>
            </a:r>
          </a:p>
          <a:p>
            <a:r>
              <a:t>"AI가 대신 투자하는 시대가 아니라,</a:t>
            </a:r>
          </a:p>
          <a:p>
            <a:r>
              <a:t>AI의 판단을 사람이 검증하고 통제하는 구조"</a:t>
            </a:r>
          </a:p>
          <a:p>
            <a:r>
              <a:t>발표일: 2026-05-02   |   팀: Antelligen (7인)</a:t>
            </a:r>
          </a:p>
          <a:p>
            <a:r>
              <a:t>Part 1.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914399" y="3108961"/>
            <a:ext cx="10332723" cy="5082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6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</a:p>
        </p:txBody>
      </p:sp>
      <p:sp>
        <p:nvSpPr>
          <p:cNvPr id="97" name="TextBox 4"/>
          <p:cNvSpPr txBox="1"/>
          <p:nvPr/>
        </p:nvSpPr>
        <p:spPr>
          <a:xfrm>
            <a:off x="914399" y="3931921"/>
            <a:ext cx="10332723" cy="682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</a:p>
        </p:txBody>
      </p:sp>
      <p:sp>
        <p:nvSpPr>
          <p:cNvPr id="98" name="TextBox 5"/>
          <p:cNvSpPr txBox="1"/>
          <p:nvPr/>
        </p:nvSpPr>
        <p:spPr>
          <a:xfrm>
            <a:off x="914399" y="5943600"/>
            <a:ext cx="10332723" cy="319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400">
                <a:solidFill>
                  <a:srgbClr val="88AACC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r>
              <a:t>FRS_20260512_074039.pptx</a:t>
            </a:r>
          </a:p>
        </p:txBody>
      </p:sp>
      <p:sp>
        <p:nvSpPr>
          <p:cNvPr id="109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0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11" name="TextBox 4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12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3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14" name="Rounded Rectangle 7"/>
          <p:cNvSpPr/>
          <p:nvPr/>
        </p:nvSpPr>
        <p:spPr>
          <a:xfrm>
            <a:off x="372108" y="1097280"/>
            <a:ext cx="5669283" cy="219456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문제 인식 (Problem)</a:t>
            </a:r>
          </a:p>
          <a:p>
            <a:r>
              <a:t>서비스 개발 동기 및 목적</a:t>
            </a:r>
          </a:p>
          <a:p>
            <a:r>
              <a:t>#2</a:t>
            </a:r>
          </a:p>
          <a:p>
            <a:r>
              <a:t>왜 우리는 멀티 에이전트인가</a:t>
            </a:r>
          </a:p>
          <a:p>
            <a:r>
              <a:t>단일 LLM 서비스의 구조적 한계</a:t>
            </a:r>
          </a:p>
          <a:p>
            <a:r>
              <a:t>• 단일 LLM은 복잡한 문제를 체계적으로 분해하기 어렵다</a:t>
            </a:r>
          </a:p>
          <a:p>
            <a:r>
              <a:t>• 데이터 수집·분석·의사결정이 하나의 모델에 과도 의존</a:t>
            </a:r>
          </a:p>
          <a:p>
            <a:r>
              <a:t>• 다양한 도메인(주식·뉴스·SNS·재무) 통합 </a:t>
            </a:r>
          </a:p>
          <a:p>
            <a:r>
              <a:t>• Antelligen</a:t>
            </a:r>
          </a:p>
          <a:p>
            <a:r>
              <a:t>AI Multi-Agent 기반 투자 인텔리전스 플랫폼</a:t>
            </a:r>
          </a:p>
          <a:p>
            <a:r>
              <a:t>"AI가 대신 투자하는 시대가 아니라,</a:t>
            </a:r>
          </a:p>
          <a:p>
            <a:r>
              <a:t>AI의 판단을 사람이 검증하고 통제하는 구조"</a:t>
            </a:r>
          </a:p>
          <a:p>
            <a:r>
              <a:t>발표일: 2026-05-02   |   팀: Antelligen (7인)</a:t>
            </a:r>
          </a:p>
          <a:p>
            <a:r>
              <a:t>Part 1. 문제 인식 (Problem)</a:t>
            </a:r>
          </a:p>
          <a:p>
            <a:r>
              <a:t>서비스 개발 동기 및 목적</a:t>
            </a:r>
          </a:p>
          <a:p>
            <a:r>
              <a:t>왜 우리는 멀티 에이전트인가</a:t>
            </a:r>
          </a:p>
          <a:p>
            <a:r>
              <a:t>#2</a:t>
            </a:r>
          </a:p>
          <a:p>
            <a:r>
              <a:t>✕</a:t>
            </a:r>
          </a:p>
          <a:p>
            <a:r>
              <a:t>단일 LLM 서비스의 구조적 한계</a:t>
            </a:r>
          </a:p>
          <a:p>
            <a:r>
              <a:t>• 복잡한 문제를 체계적으로 분해하기 어렵다</a:t>
            </a:r>
          </a:p>
        </p:txBody>
      </p:sp>
      <p:sp>
        <p:nvSpPr>
          <p:cNvPr id="115" name="Rectangle 8"/>
          <p:cNvSpPr/>
          <p:nvPr/>
        </p:nvSpPr>
        <p:spPr>
          <a:xfrm>
            <a:off x="372110" y="1097280"/>
            <a:ext cx="5669280" cy="73154"/>
          </a:xfrm>
          <a:prstGeom prst="rect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6" name="Oval 9"/>
          <p:cNvSpPr/>
          <p:nvPr/>
        </p:nvSpPr>
        <p:spPr>
          <a:xfrm>
            <a:off x="554990" y="1325880"/>
            <a:ext cx="502923" cy="50292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7" name="TextBox 10"/>
          <p:cNvSpPr txBox="1"/>
          <p:nvPr/>
        </p:nvSpPr>
        <p:spPr>
          <a:xfrm>
            <a:off x="582422" y="1444750"/>
            <a:ext cx="448056" cy="265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18" name="TextBox 11"/>
          <p:cNvSpPr txBox="1"/>
          <p:nvPr/>
        </p:nvSpPr>
        <p:spPr>
          <a:xfrm>
            <a:off x="1176782" y="1344166"/>
            <a:ext cx="4745736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19" name="TextBox 12"/>
          <p:cNvSpPr txBox="1"/>
          <p:nvPr/>
        </p:nvSpPr>
        <p:spPr>
          <a:xfrm>
            <a:off x="536700" y="1965961"/>
            <a:ext cx="5340100" cy="86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</a:p>
        </p:txBody>
      </p:sp>
      <p:sp>
        <p:nvSpPr>
          <p:cNvPr id="120" name="Rounded Rectangle 13"/>
          <p:cNvSpPr/>
          <p:nvPr/>
        </p:nvSpPr>
        <p:spPr>
          <a:xfrm>
            <a:off x="6132829" y="1097280"/>
            <a:ext cx="5669282" cy="219456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1" name="Rectangle 14"/>
          <p:cNvSpPr/>
          <p:nvPr/>
        </p:nvSpPr>
        <p:spPr>
          <a:xfrm>
            <a:off x="6132829" y="1097280"/>
            <a:ext cx="5669282" cy="73154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2" name="Oval 15"/>
          <p:cNvSpPr/>
          <p:nvPr/>
        </p:nvSpPr>
        <p:spPr>
          <a:xfrm>
            <a:off x="6315709" y="1325880"/>
            <a:ext cx="502923" cy="502923"/>
          </a:xfrm>
          <a:prstGeom prst="ellipse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3" name="TextBox 16"/>
          <p:cNvSpPr txBox="1"/>
          <p:nvPr/>
        </p:nvSpPr>
        <p:spPr>
          <a:xfrm>
            <a:off x="6343141" y="1425700"/>
            <a:ext cx="448057" cy="303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24" name="TextBox 17"/>
          <p:cNvSpPr txBox="1"/>
          <p:nvPr/>
        </p:nvSpPr>
        <p:spPr>
          <a:xfrm>
            <a:off x="6937501" y="1344166"/>
            <a:ext cx="4745738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25" name="TextBox 18"/>
          <p:cNvSpPr txBox="1"/>
          <p:nvPr/>
        </p:nvSpPr>
        <p:spPr>
          <a:xfrm>
            <a:off x="6297421" y="1965961"/>
            <a:ext cx="5340097" cy="872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</a:p>
        </p:txBody>
      </p:sp>
      <p:sp>
        <p:nvSpPr>
          <p:cNvPr id="126" name="TextBox 19"/>
          <p:cNvSpPr txBox="1"/>
          <p:nvPr/>
        </p:nvSpPr>
        <p:spPr>
          <a:xfrm>
            <a:off x="399540" y="3474720"/>
            <a:ext cx="11375139" cy="264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400">
                <a:solidFill>
                  <a:srgbClr val="5BC4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27" name="Rounded Rectangle 20"/>
          <p:cNvSpPr/>
          <p:nvPr/>
        </p:nvSpPr>
        <p:spPr>
          <a:xfrm>
            <a:off x="372108" y="3931920"/>
            <a:ext cx="2194563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8" name="Oval 21"/>
          <p:cNvSpPr/>
          <p:nvPr/>
        </p:nvSpPr>
        <p:spPr>
          <a:xfrm>
            <a:off x="536701" y="4069079"/>
            <a:ext cx="457203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9" name="TextBox 22"/>
          <p:cNvSpPr txBox="1"/>
          <p:nvPr/>
        </p:nvSpPr>
        <p:spPr>
          <a:xfrm>
            <a:off x="564133" y="4101591"/>
            <a:ext cx="402338" cy="39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30" name="TextBox 23"/>
          <p:cNvSpPr txBox="1"/>
          <p:nvPr/>
        </p:nvSpPr>
        <p:spPr>
          <a:xfrm>
            <a:off x="1112774" y="4069079"/>
            <a:ext cx="1417322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31" name="TextBox 24"/>
          <p:cNvSpPr txBox="1"/>
          <p:nvPr/>
        </p:nvSpPr>
        <p:spPr>
          <a:xfrm>
            <a:off x="564132" y="4617720"/>
            <a:ext cx="1920244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32" name="Rounded Rectangle 25"/>
          <p:cNvSpPr/>
          <p:nvPr/>
        </p:nvSpPr>
        <p:spPr>
          <a:xfrm>
            <a:off x="2621533" y="3931920"/>
            <a:ext cx="2194562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3" name="Oval 26"/>
          <p:cNvSpPr/>
          <p:nvPr/>
        </p:nvSpPr>
        <p:spPr>
          <a:xfrm>
            <a:off x="2786126" y="4069079"/>
            <a:ext cx="457203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4" name="TextBox 27"/>
          <p:cNvSpPr txBox="1"/>
          <p:nvPr/>
        </p:nvSpPr>
        <p:spPr>
          <a:xfrm>
            <a:off x="2813557" y="4101591"/>
            <a:ext cx="402338" cy="39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35" name="TextBox 28"/>
          <p:cNvSpPr txBox="1"/>
          <p:nvPr/>
        </p:nvSpPr>
        <p:spPr>
          <a:xfrm>
            <a:off x="3362197" y="4069079"/>
            <a:ext cx="1417322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36" name="TextBox 29"/>
          <p:cNvSpPr txBox="1"/>
          <p:nvPr/>
        </p:nvSpPr>
        <p:spPr>
          <a:xfrm>
            <a:off x="2813557" y="4617720"/>
            <a:ext cx="1920241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37" name="Rounded Rectangle 30"/>
          <p:cNvSpPr/>
          <p:nvPr/>
        </p:nvSpPr>
        <p:spPr>
          <a:xfrm>
            <a:off x="4870958" y="3931920"/>
            <a:ext cx="2194562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8" name="Oval 31"/>
          <p:cNvSpPr/>
          <p:nvPr/>
        </p:nvSpPr>
        <p:spPr>
          <a:xfrm>
            <a:off x="5035550" y="4069079"/>
            <a:ext cx="457200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9" name="TextBox 32"/>
          <p:cNvSpPr txBox="1"/>
          <p:nvPr/>
        </p:nvSpPr>
        <p:spPr>
          <a:xfrm>
            <a:off x="5062982" y="4101591"/>
            <a:ext cx="402338" cy="39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40" name="TextBox 33"/>
          <p:cNvSpPr txBox="1"/>
          <p:nvPr/>
        </p:nvSpPr>
        <p:spPr>
          <a:xfrm>
            <a:off x="5611621" y="4069079"/>
            <a:ext cx="1417322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41" name="TextBox 34"/>
          <p:cNvSpPr txBox="1"/>
          <p:nvPr/>
        </p:nvSpPr>
        <p:spPr>
          <a:xfrm>
            <a:off x="5062982" y="4617720"/>
            <a:ext cx="1920241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42" name="Rounded Rectangle 35"/>
          <p:cNvSpPr/>
          <p:nvPr/>
        </p:nvSpPr>
        <p:spPr>
          <a:xfrm>
            <a:off x="7120380" y="3931920"/>
            <a:ext cx="2194562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3" name="Oval 36"/>
          <p:cNvSpPr/>
          <p:nvPr/>
        </p:nvSpPr>
        <p:spPr>
          <a:xfrm>
            <a:off x="7284973" y="4069079"/>
            <a:ext cx="457203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4" name="TextBox 37"/>
          <p:cNvSpPr txBox="1"/>
          <p:nvPr/>
        </p:nvSpPr>
        <p:spPr>
          <a:xfrm>
            <a:off x="7312404" y="4101591"/>
            <a:ext cx="402338" cy="39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45" name="TextBox 38"/>
          <p:cNvSpPr txBox="1"/>
          <p:nvPr/>
        </p:nvSpPr>
        <p:spPr>
          <a:xfrm>
            <a:off x="7861044" y="4069079"/>
            <a:ext cx="1417323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46" name="TextBox 39"/>
          <p:cNvSpPr txBox="1"/>
          <p:nvPr/>
        </p:nvSpPr>
        <p:spPr>
          <a:xfrm>
            <a:off x="7312404" y="4617720"/>
            <a:ext cx="1920241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47" name="Rounded Rectangle 40"/>
          <p:cNvSpPr/>
          <p:nvPr/>
        </p:nvSpPr>
        <p:spPr>
          <a:xfrm>
            <a:off x="9369806" y="3931920"/>
            <a:ext cx="2194562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8" name="Oval 41"/>
          <p:cNvSpPr/>
          <p:nvPr/>
        </p:nvSpPr>
        <p:spPr>
          <a:xfrm>
            <a:off x="9534397" y="4069079"/>
            <a:ext cx="457203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9" name="TextBox 42"/>
          <p:cNvSpPr txBox="1"/>
          <p:nvPr/>
        </p:nvSpPr>
        <p:spPr>
          <a:xfrm>
            <a:off x="9561828" y="4146041"/>
            <a:ext cx="402338" cy="303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50" name="TextBox 43"/>
          <p:cNvSpPr txBox="1"/>
          <p:nvPr/>
        </p:nvSpPr>
        <p:spPr>
          <a:xfrm>
            <a:off x="10110468" y="4069079"/>
            <a:ext cx="1417322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51" name="TextBox 44"/>
          <p:cNvSpPr txBox="1"/>
          <p:nvPr/>
        </p:nvSpPr>
        <p:spPr>
          <a:xfrm>
            <a:off x="9561828" y="4617720"/>
            <a:ext cx="1920241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52" name="Rounded Rectangle 45"/>
          <p:cNvSpPr/>
          <p:nvPr/>
        </p:nvSpPr>
        <p:spPr>
          <a:xfrm>
            <a:off x="372108" y="5532120"/>
            <a:ext cx="11430002" cy="777242"/>
          </a:xfrm>
          <a:prstGeom prst="roundRect">
            <a:avLst>
              <a:gd name="adj" fmla="val 16667"/>
            </a:avLst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3" name="TextBox 46"/>
          <p:cNvSpPr txBox="1"/>
          <p:nvPr/>
        </p:nvSpPr>
        <p:spPr>
          <a:xfrm>
            <a:off x="399540" y="5788276"/>
            <a:ext cx="11375139" cy="264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i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3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r>
              <a:t>FRS_20260512_074039.pptx</a:t>
            </a:r>
          </a:p>
        </p:txBody>
      </p:sp>
      <p:sp>
        <p:nvSpPr>
          <p:cNvPr id="454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• 데이터 수집·분석·의사결정이 한 모델에 과도 의존</a:t>
            </a:r>
          </a:p>
          <a:p>
            <a:r>
              <a:t>• 다양한 도메인(주식·뉴스·SNS·재무) 통합 반영 불가</a:t>
            </a:r>
          </a:p>
          <a:p>
            <a:r>
              <a:t>•</a:t>
            </a:r>
          </a:p>
        </p:txBody>
      </p:sp>
      <p:sp>
        <p:nvSpPr>
          <p:cNvPr id="455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</a:p>
        </p:txBody>
      </p:sp>
      <p:sp>
        <p:nvSpPr>
          <p:cNvPr id="456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</a:p>
        </p:txBody>
      </p:sp>
      <p:sp>
        <p:nvSpPr>
          <p:cNvPr id="457" name="TextBox 5"/>
          <p:cNvSpPr txBox="1"/>
          <p:nvPr/>
        </p:nvSpPr>
        <p:spPr>
          <a:xfrm>
            <a:off x="457198" y="1635117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</a:p>
        </p:txBody>
      </p:sp>
      <p:sp>
        <p:nvSpPr>
          <p:cNvPr id="458" name="TextBox 6"/>
          <p:cNvSpPr txBox="1"/>
          <p:nvPr/>
        </p:nvSpPr>
        <p:spPr>
          <a:xfrm>
            <a:off x="457198" y="2053065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</a:p>
        </p:txBody>
      </p:sp>
      <p:sp>
        <p:nvSpPr>
          <p:cNvPr id="459" name="TextBox 7"/>
          <p:cNvSpPr txBox="1"/>
          <p:nvPr/>
        </p:nvSpPr>
        <p:spPr>
          <a:xfrm>
            <a:off x="457198" y="2471012"/>
            <a:ext cx="11274556" cy="266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</a:p>
        </p:txBody>
      </p:sp>
      <p:sp>
        <p:nvSpPr>
          <p:cNvPr id="460" name="TextBox 8"/>
          <p:cNvSpPr txBox="1"/>
          <p:nvPr/>
        </p:nvSpPr>
        <p:spPr>
          <a:xfrm>
            <a:off x="457198" y="2888963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</a:p>
        </p:txBody>
      </p:sp>
      <p:sp>
        <p:nvSpPr>
          <p:cNvPr id="461" name="TextBox 9"/>
          <p:cNvSpPr txBox="1"/>
          <p:nvPr/>
        </p:nvSpPr>
        <p:spPr>
          <a:xfrm>
            <a:off x="466343" y="3361773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</a:p>
        </p:txBody>
      </p:sp>
      <p:grpSp>
        <p:nvGrpSpPr>
          <p:cNvPr id="464" name="Rectangle 10"/>
          <p:cNvGrpSpPr/>
          <p:nvPr/>
        </p:nvGrpSpPr>
        <p:grpSpPr>
          <a:xfrm>
            <a:off x="457198" y="3936185"/>
            <a:ext cx="11274556" cy="2621284"/>
            <a:chOff x="0" y="0"/>
            <a:chExt cx="11274555" cy="2621283"/>
          </a:xfrm>
        </p:grpSpPr>
        <p:sp>
          <p:nvSpPr>
            <p:cNvPr id="462" name="직사각형"/>
            <p:cNvSpPr/>
            <p:nvPr/>
          </p:nvSpPr>
          <p:spPr>
            <a:xfrm>
              <a:off x="-1" y="-1"/>
              <a:ext cx="11274556" cy="2621284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63" name="HTTP Request…"/>
            <p:cNvSpPr txBox="1"/>
            <p:nvPr/>
          </p:nvSpPr>
          <p:spPr>
            <a:xfrm>
              <a:off x="45719" y="114839"/>
              <a:ext cx="3532400" cy="2391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HTTP Request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FastAPI Router (Inbound Adapter)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UseCase 실행 (Application)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Port 호출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├─▶ Repository → SQLAlchemy → PostgreSQL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├─▶ External Client → OpenAI / DART / yfinance / SEC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└─▶ Cache Adapter → Redis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Domain Entity 조작 (순수 Python)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Response DTO 변환 → HTTP Response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