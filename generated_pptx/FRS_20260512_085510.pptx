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1pPr>
    <a:lvl2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2pPr>
    <a:lvl3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3pPr>
    <a:lvl4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4pPr>
    <a:lvl5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5pPr>
    <a:lvl6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6pPr>
    <a:lvl7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7pPr>
    <a:lvl8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8pPr>
    <a:lvl9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맑은 고딕"/>
      </a:defRPr>
    </a:lvl1pPr>
    <a:lvl2pPr indent="228600" latinLnBrk="0">
      <a:defRPr sz="1200">
        <a:latin typeface="+mj-lt"/>
        <a:ea typeface="+mj-ea"/>
        <a:cs typeface="+mj-cs"/>
        <a:sym typeface="맑은 고딕"/>
      </a:defRPr>
    </a:lvl2pPr>
    <a:lvl3pPr indent="457200" latinLnBrk="0">
      <a:defRPr sz="1200">
        <a:latin typeface="+mj-lt"/>
        <a:ea typeface="+mj-ea"/>
        <a:cs typeface="+mj-cs"/>
        <a:sym typeface="맑은 고딕"/>
      </a:defRPr>
    </a:lvl3pPr>
    <a:lvl4pPr indent="685800" latinLnBrk="0">
      <a:defRPr sz="1200">
        <a:latin typeface="+mj-lt"/>
        <a:ea typeface="+mj-ea"/>
        <a:cs typeface="+mj-cs"/>
        <a:sym typeface="맑은 고딕"/>
      </a:defRPr>
    </a:lvl4pPr>
    <a:lvl5pPr indent="914400" latinLnBrk="0">
      <a:defRPr sz="1200">
        <a:latin typeface="+mj-lt"/>
        <a:ea typeface="+mj-ea"/>
        <a:cs typeface="+mj-cs"/>
        <a:sym typeface="맑은 고딕"/>
      </a:defRPr>
    </a:lvl5pPr>
    <a:lvl6pPr indent="1143000" latinLnBrk="0">
      <a:defRPr sz="1200">
        <a:latin typeface="+mj-lt"/>
        <a:ea typeface="+mj-ea"/>
        <a:cs typeface="+mj-cs"/>
        <a:sym typeface="맑은 고딕"/>
      </a:defRPr>
    </a:lvl6pPr>
    <a:lvl7pPr indent="1371600" latinLnBrk="0">
      <a:defRPr sz="1200">
        <a:latin typeface="+mj-lt"/>
        <a:ea typeface="+mj-ea"/>
        <a:cs typeface="+mj-cs"/>
        <a:sym typeface="맑은 고딕"/>
      </a:defRPr>
    </a:lvl7pPr>
    <a:lvl8pPr indent="1600200" latinLnBrk="0">
      <a:defRPr sz="1200">
        <a:latin typeface="+mj-lt"/>
        <a:ea typeface="+mj-ea"/>
        <a:cs typeface="+mj-cs"/>
        <a:sym typeface="맑은 고딕"/>
      </a:defRPr>
    </a:lvl8pPr>
    <a:lvl9pPr indent="1828800" latinLnBrk="0">
      <a:defRPr sz="1200">
        <a:latin typeface="+mj-lt"/>
        <a:ea typeface="+mj-ea"/>
        <a:cs typeface="+mj-cs"/>
        <a:sym typeface="맑은 고딕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텍스트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12" name="본문 첫 번째 줄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13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제목 텍스트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21" name="본문 첫 번째 줄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22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제목 텍스트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제목 텍스트</a:t>
            </a:r>
          </a:p>
        </p:txBody>
      </p:sp>
      <p:sp>
        <p:nvSpPr>
          <p:cNvPr id="30" name="본문 첫 번째 줄…"/>
          <p:cNvSpPr txBox="1"/>
          <p:nvPr>
            <p:ph type="body" sz="quarter" idx="1"/>
          </p:nvPr>
        </p:nvSpPr>
        <p:spPr>
          <a:xfrm>
            <a:off x="722312" y="2906713"/>
            <a:ext cx="7772401" cy="1500189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31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제목 텍스트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39" name="본문 첫 번째 줄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8" indent="-320038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0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제목 텍스트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48" name="본문 첫 번째 줄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1"/>
            <a:ext cx="4041775" cy="639765"/>
          </a:xfrm>
          <a:prstGeom prst="rect">
            <a:avLst/>
          </a:prstGeom>
        </p:spPr>
        <p:txBody>
          <a:bodyPr anchor="b"/>
          <a:lstStyle/>
          <a:p>
            <a:pPr/>
          </a:p>
        </p:txBody>
      </p:sp>
      <p:sp>
        <p:nvSpPr>
          <p:cNvPr id="50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제목 텍스트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58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제목 텍스트"/>
          <p:cNvSpPr txBox="1"/>
          <p:nvPr>
            <p:ph type="title"/>
          </p:nvPr>
        </p:nvSpPr>
        <p:spPr>
          <a:xfrm>
            <a:off x="457200" y="273050"/>
            <a:ext cx="3008315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제목 텍스트</a:t>
            </a:r>
          </a:p>
        </p:txBody>
      </p:sp>
      <p:sp>
        <p:nvSpPr>
          <p:cNvPr id="73" name="본문 첫 번째 줄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8" y="1435100"/>
            <a:ext cx="3008316" cy="4691063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5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제목 텍스트"/>
          <p:cNvSpPr txBox="1"/>
          <p:nvPr>
            <p:ph type="title"/>
          </p:nvPr>
        </p:nvSpPr>
        <p:spPr>
          <a:xfrm>
            <a:off x="1792288" y="4800600"/>
            <a:ext cx="5486402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제목 텍스트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2" cy="4114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84" name="본문 첫 번째 줄…"/>
          <p:cNvSpPr txBox="1"/>
          <p:nvPr>
            <p:ph type="body" sz="quarter" idx="1"/>
          </p:nvPr>
        </p:nvSpPr>
        <p:spPr>
          <a:xfrm>
            <a:off x="1792288" y="5367337"/>
            <a:ext cx="5486402" cy="804864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0">
              <a:spcBef>
                <a:spcPts val="300"/>
              </a:spcBef>
              <a:buSzTx/>
              <a:buFontTx/>
              <a:buNone/>
              <a:defRPr sz="1400"/>
            </a:lvl2pPr>
            <a:lvl3pPr marL="0" indent="0">
              <a:spcBef>
                <a:spcPts val="300"/>
              </a:spcBef>
              <a:buSzTx/>
              <a:buFontTx/>
              <a:buNone/>
              <a:defRPr sz="1400"/>
            </a:lvl3pPr>
            <a:lvl4pPr marL="0" indent="0">
              <a:spcBef>
                <a:spcPts val="300"/>
              </a:spcBef>
              <a:buSzTx/>
              <a:buFontTx/>
              <a:buNone/>
              <a:defRPr sz="1400"/>
            </a:lvl4pPr>
            <a:lvl5pPr marL="0" indent="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85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텍스트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/>
          <a:p>
            <a:pPr/>
            <a:r>
              <a:t>제목 텍스트</a:t>
            </a:r>
          </a:p>
        </p:txBody>
      </p:sp>
      <p:sp>
        <p:nvSpPr>
          <p:cNvPr id="3" name="본문 첫 번째 줄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" name="슬라이드 번호"/>
          <p:cNvSpPr txBox="1"/>
          <p:nvPr>
            <p:ph type="sldNum" sz="quarter" idx="2"/>
          </p:nvPr>
        </p:nvSpPr>
        <p:spPr>
          <a:xfrm>
            <a:off x="8428178" y="6414761"/>
            <a:ext cx="258623" cy="248303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4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 wrap="square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Antelligen — AI Multi-Agent 투자 인텔리전스</a:t>
            </a:r>
          </a:p>
        </p:txBody>
      </p:sp>
      <p:sp>
        <p:nvSpPr>
          <p:cNvPr id="95" name="TextBox 2"/>
          <p:cNvSpPr txBox="1"/>
          <p:nvPr/>
        </p:nvSpPr>
        <p:spPr>
          <a:xfrm>
            <a:off x="914399" y="1645921"/>
            <a:ext cx="10332723" cy="10058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wrap="square">
            <a:spAutoFit/>
          </a:bodyPr>
          <a:lstStyle>
            <a:lvl1pPr>
              <a:defRPr b="1" sz="60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>
              <a:defRPr>
                <a:solidFill/>
              </a:defRPr>
            </a:pPr>
            <a:r>
              <a:t>AI Multi-Agent 기반 투자 인텔리전스 플랫폼</a:t>
            </a:r>
          </a:p>
          <a:p>
            <a:pPr>
              <a:defRPr/>
            </a:pPr>
            <a:r>
              <a:t>"AI의 판단을 사람이 검증하고 통제하는 구조"</a:t>
            </a:r>
          </a:p>
          <a:p>
            <a:pPr>
              <a:defRPr/>
            </a:pPr>
            <a:r>
              <a:t>발표일: 2026-05-02 | 팀: Antelligen (7인)</a:t>
            </a:r>
          </a:p>
        </p:txBody>
      </p:sp>
      <p:sp>
        <p:nvSpPr>
          <p:cNvPr id="96" name="TextBox 3"/>
          <p:cNvSpPr txBox="1"/>
          <p:nvPr/>
        </p:nvSpPr>
        <p:spPr>
          <a:xfrm>
            <a:off x="914399" y="3108961"/>
            <a:ext cx="10332723" cy="5082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600">
                <a:solidFill>
                  <a:srgbClr val="CCDDE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</a:p>
        </p:txBody>
      </p:sp>
      <p:sp>
        <p:nvSpPr>
          <p:cNvPr id="97" name="TextBox 4"/>
          <p:cNvSpPr txBox="1"/>
          <p:nvPr/>
        </p:nvSpPr>
        <p:spPr>
          <a:xfrm>
            <a:off x="914399" y="3931921"/>
            <a:ext cx="10332723" cy="6822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</a:p>
        </p:txBody>
      </p:sp>
      <p:sp>
        <p:nvSpPr>
          <p:cNvPr id="98" name="TextBox 5"/>
          <p:cNvSpPr txBox="1"/>
          <p:nvPr/>
        </p:nvSpPr>
        <p:spPr>
          <a:xfrm>
            <a:off x="914399" y="5943600"/>
            <a:ext cx="10332723" cy="3197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400">
                <a:solidFill>
                  <a:srgbClr val="88AACC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2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 wrap="square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Part 1. 문제 인식 (Problem)</a:t>
            </a:r>
          </a:p>
        </p:txBody>
      </p:sp>
      <p:sp>
        <p:nvSpPr>
          <p:cNvPr id="103" name="Rectangle 2"/>
          <p:cNvSpPr/>
          <p:nvPr/>
        </p:nvSpPr>
        <p:spPr>
          <a:xfrm>
            <a:off x="914400" y="3108960"/>
            <a:ext cx="1371600" cy="91442"/>
          </a:xfrm>
          <a:prstGeom prst="rect">
            <a:avLst/>
          </a:prstGeom>
          <a:solidFill>
            <a:srgbClr val="2980B9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4" name="TextBox 3"/>
          <p:cNvSpPr txBox="1"/>
          <p:nvPr/>
        </p:nvSpPr>
        <p:spPr>
          <a:xfrm>
            <a:off x="914399" y="2286000"/>
            <a:ext cx="10332723" cy="8036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wrap="square">
            <a:spAutoFit/>
          </a:bodyPr>
          <a:lstStyle>
            <a:lvl1pPr>
              <a:defRPr b="1" sz="4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>
              <a:defRPr>
                <a:solidFill/>
              </a:defRPr>
            </a:pPr>
            <a:r>
              <a:t>핵심 문제: 단일 LLM의 구조적 한계로 현실의 협업적 의사결정을 반영하지 못함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8" name="Rectangle 1"/>
          <p:cNvSpPr/>
          <p:nvPr/>
        </p:nvSpPr>
        <p:spPr>
          <a:xfrm>
            <a:off x="6348" y="-1"/>
            <a:ext cx="12188956" cy="822962"/>
          </a:xfrm>
          <a:prstGeom prst="rect">
            <a:avLst/>
          </a:prstGeom>
          <a:solidFill>
            <a:srgbClr val="2D52C9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 wrap="square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서비스 개발 동기 및 멀티 에이전트 필요성</a:t>
            </a:r>
          </a:p>
        </p:txBody>
      </p:sp>
      <p:sp>
        <p:nvSpPr>
          <p:cNvPr id="109" name="Rectangle 2"/>
          <p:cNvSpPr/>
          <p:nvPr/>
        </p:nvSpPr>
        <p:spPr>
          <a:xfrm>
            <a:off x="6348" y="822960"/>
            <a:ext cx="12188956" cy="54866"/>
          </a:xfrm>
          <a:prstGeom prst="rect">
            <a:avLst/>
          </a:prstGeom>
          <a:solidFill>
            <a:srgbClr val="F38BA8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0" name="TextBox 3"/>
          <p:cNvSpPr txBox="1"/>
          <p:nvPr/>
        </p:nvSpPr>
        <p:spPr>
          <a:xfrm>
            <a:off x="399540" y="164591"/>
            <a:ext cx="10460739" cy="386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</a:p>
        </p:txBody>
      </p:sp>
      <p:sp>
        <p:nvSpPr>
          <p:cNvPr id="111" name="TextBox 4"/>
          <p:cNvSpPr txBox="1"/>
          <p:nvPr/>
        </p:nvSpPr>
        <p:spPr>
          <a:xfrm>
            <a:off x="399540" y="548640"/>
            <a:ext cx="10460739" cy="1978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</a:p>
        </p:txBody>
      </p:sp>
      <p:sp>
        <p:nvSpPr>
          <p:cNvPr id="112" name="Rounded Rectangle 5"/>
          <p:cNvSpPr/>
          <p:nvPr/>
        </p:nvSpPr>
        <p:spPr>
          <a:xfrm>
            <a:off x="11253468" y="182879"/>
            <a:ext cx="777242" cy="457202"/>
          </a:xfrm>
          <a:prstGeom prst="roundRect">
            <a:avLst>
              <a:gd name="adj" fmla="val 16667"/>
            </a:avLst>
          </a:prstGeom>
          <a:solidFill>
            <a:srgbClr val="F38BA8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3" name="TextBox 6"/>
          <p:cNvSpPr txBox="1"/>
          <p:nvPr/>
        </p:nvSpPr>
        <p:spPr>
          <a:xfrm>
            <a:off x="11280901" y="201166"/>
            <a:ext cx="722378" cy="252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b="1" sz="14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</a:p>
        </p:txBody>
      </p:sp>
      <p:sp>
        <p:nvSpPr>
          <p:cNvPr id="114" name="Rounded Rectangle 7"/>
          <p:cNvSpPr/>
          <p:nvPr/>
        </p:nvSpPr>
        <p:spPr>
          <a:xfrm>
            <a:off x="372108" y="1097280"/>
            <a:ext cx="5669283" cy="2194562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 wrap="square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단일 LLM의 한계</a:t>
            </a:r>
          </a:p>
          <a:p>
            <a:pPr>
              <a:defRPr>
                <a:solidFill>
                  <a:srgbClr val="FFFFFF"/>
                </a:solidFill>
                <a:latin typeface="Calibri"/>
              </a:defRPr>
            </a:pPr>
            <a:r>
              <a:t>• 단일 LLM은 복잡한 문제를 체계적으로 분해하기 어려움</a:t>
            </a:r>
          </a:p>
          <a:p>
            <a:pPr>
              <a:defRPr>
                <a:solidFill>
                  <a:srgbClr val="FFFFFF"/>
                </a:solidFill>
                <a:latin typeface="Calibri"/>
              </a:defRPr>
            </a:pPr>
            <a:r>
              <a:t>• 데이터 수집·분석·의사결정이 한 모델에 과도 의존</a:t>
            </a:r>
          </a:p>
          <a:p>
            <a:pPr>
              <a:defRPr>
                <a:solidFill>
                  <a:srgbClr val="FFFFFF"/>
                </a:solidFill>
                <a:latin typeface="Calibri"/>
              </a:defRPr>
            </a:pPr>
            <a:r>
              <a:t>• 주식·뉴스·SNS·재무 등 다양한 도메인 통합 반영 불가</a:t>
            </a:r>
          </a:p>
          <a:p>
            <a:pPr>
              <a:defRPr>
                <a:solidFill>
                  <a:srgbClr val="FFFFFF"/>
                </a:solidFill>
                <a:latin typeface="Calibri"/>
              </a:defRPr>
            </a:pPr>
            <a:r>
              <a:t>• 확장성·유지보수에서 구조적 한계 발생</a:t>
            </a:r>
          </a:p>
          <a:p>
            <a:pPr>
              <a:defRPr>
                <a:solidFill>
                  <a:srgbClr val="FFFFFF"/>
                </a:solidFill>
                <a:latin typeface="Calibri"/>
              </a:defRPr>
            </a:pPr>
          </a:p>
          <a:p>
            <a:pPr>
              <a:defRPr>
                <a:solidFill>
                  <a:srgbClr val="FFFFFF"/>
                </a:solidFill>
                <a:latin typeface="Calibri"/>
              </a:defRPr>
            </a:pPr>
            <a:r>
              <a:t>현실적 의사결정은 협업 구조</a:t>
            </a:r>
          </a:p>
          <a:p>
            <a:pPr>
              <a:defRPr>
                <a:solidFill>
                  <a:srgbClr val="FFFFFF"/>
                </a:solidFill>
                <a:latin typeface="Calibri"/>
              </a:defRPr>
            </a:pPr>
            <a:r>
              <a:t>• 정보 수집 → 분석 → 판단 → 추천</a:t>
            </a:r>
          </a:p>
          <a:p>
            <a:pPr>
              <a:defRPr>
                <a:solidFill>
                  <a:srgbClr val="FFFFFF"/>
                </a:solidFill>
                <a:latin typeface="Calibri"/>
              </a:defRPr>
            </a:pPr>
            <a:r>
              <a:t>• 여러 전문가의 협업 형태로 이루어짐</a:t>
            </a:r>
          </a:p>
          <a:p>
            <a:pPr>
              <a:defRPr>
                <a:solidFill>
                  <a:srgbClr val="FFFFFF"/>
                </a:solidFill>
                <a:latin typeface="Calibri"/>
              </a:defRPr>
            </a:pPr>
            <a:r>
              <a:t>→ 역할별 AI 에이전트가 협업하는 구조 필요</a:t>
            </a:r>
          </a:p>
          <a:p>
            <a:pPr>
              <a:defRPr>
                <a:solidFill>
                  <a:srgbClr val="FFFFFF"/>
                </a:solidFill>
                <a:latin typeface="Calibri"/>
              </a:defRPr>
            </a:pPr>
          </a:p>
          <a:p>
            <a:pPr>
              <a:defRPr>
                <a:solidFill>
                  <a:srgbClr val="FFFFFF"/>
                </a:solidFill>
                <a:latin typeface="Calibri"/>
              </a:defRPr>
            </a:pPr>
            <a:r>
              <a:t>Antelligen의 목표</a:t>
            </a:r>
          </a:p>
          <a:p>
            <a:pPr>
              <a:defRPr>
                <a:solidFill>
                  <a:srgbClr val="FFFFFF"/>
                </a:solidFill>
                <a:latin typeface="Calibri"/>
              </a:defRPr>
            </a:pPr>
            <a:r>
              <a:t>• 구조적 AI 시스템 구축 — 데이터 수집·분석·의사결정 에이전트 협업</a:t>
            </a:r>
          </a:p>
          <a:p>
            <a:pPr>
              <a:defRPr>
                <a:solidFill>
                  <a:srgbClr val="FFFFFF"/>
                </a:solidFill>
                <a:latin typeface="Calibri"/>
              </a:defRPr>
            </a:pPr>
            <a:r>
              <a:t>• 확장 가능한 아키텍처 — 새 기능 추가 시 기존 시스템 영향 최소화</a:t>
            </a:r>
          </a:p>
          <a:p>
            <a:pPr>
              <a:defRPr>
                <a:solidFill>
                  <a:srgbClr val="FFFFFF"/>
                </a:solidFill>
                <a:latin typeface="Calibri"/>
              </a:defRPr>
            </a:pPr>
            <a:r>
              <a:t>• 현실적 협업 흐름 반영 — 사람의 업무 방식 그대로 AI 협업으로 구현</a:t>
            </a:r>
          </a:p>
          <a:p>
            <a:pPr>
              <a:defRPr>
                <a:solidFill>
                  <a:srgbClr val="FFFFFF"/>
                </a:solidFill>
                <a:latin typeface="Calibri"/>
              </a:defRPr>
            </a:pPr>
            <a:r>
              <a:t>• 사용자 맞춤형 분석 —</a:t>
            </a:r>
          </a:p>
        </p:txBody>
      </p:sp>
      <p:sp>
        <p:nvSpPr>
          <p:cNvPr id="115" name="Rectangle 8"/>
          <p:cNvSpPr/>
          <p:nvPr/>
        </p:nvSpPr>
        <p:spPr>
          <a:xfrm>
            <a:off x="372110" y="1097280"/>
            <a:ext cx="5669280" cy="73154"/>
          </a:xfrm>
          <a:prstGeom prst="rect">
            <a:avLst/>
          </a:prstGeom>
          <a:solidFill>
            <a:srgbClr val="F38BA8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6" name="Oval 9"/>
          <p:cNvSpPr/>
          <p:nvPr/>
        </p:nvSpPr>
        <p:spPr>
          <a:xfrm>
            <a:off x="554990" y="1325880"/>
            <a:ext cx="502923" cy="502923"/>
          </a:xfrm>
          <a:prstGeom prst="ellipse">
            <a:avLst/>
          </a:prstGeom>
          <a:solidFill>
            <a:srgbClr val="F38BA8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7" name="TextBox 10"/>
          <p:cNvSpPr txBox="1"/>
          <p:nvPr/>
        </p:nvSpPr>
        <p:spPr>
          <a:xfrm>
            <a:off x="582422" y="1444750"/>
            <a:ext cx="448056" cy="2651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b="1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</a:p>
        </p:txBody>
      </p:sp>
      <p:sp>
        <p:nvSpPr>
          <p:cNvPr id="118" name="TextBox 11"/>
          <p:cNvSpPr txBox="1"/>
          <p:nvPr/>
        </p:nvSpPr>
        <p:spPr>
          <a:xfrm>
            <a:off x="1176782" y="1344166"/>
            <a:ext cx="4745736" cy="2270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2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</a:p>
        </p:txBody>
      </p:sp>
      <p:sp>
        <p:nvSpPr>
          <p:cNvPr id="119" name="TextBox 12"/>
          <p:cNvSpPr txBox="1"/>
          <p:nvPr/>
        </p:nvSpPr>
        <p:spPr>
          <a:xfrm>
            <a:off x="536700" y="1965961"/>
            <a:ext cx="5340100" cy="869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15000"/>
              </a:lnSpc>
              <a:defRPr sz="11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</a:p>
        </p:txBody>
      </p:sp>
      <p:sp>
        <p:nvSpPr>
          <p:cNvPr id="120" name="Rounded Rectangle 13"/>
          <p:cNvSpPr/>
          <p:nvPr/>
        </p:nvSpPr>
        <p:spPr>
          <a:xfrm>
            <a:off x="6132829" y="1097280"/>
            <a:ext cx="5669282" cy="2194562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1" name="Rectangle 14"/>
          <p:cNvSpPr/>
          <p:nvPr/>
        </p:nvSpPr>
        <p:spPr>
          <a:xfrm>
            <a:off x="6132829" y="1097280"/>
            <a:ext cx="5669282" cy="73154"/>
          </a:xfrm>
          <a:prstGeom prst="rect">
            <a:avLst/>
          </a:prstGeom>
          <a:solidFill>
            <a:srgbClr val="6BD7A0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2" name="Oval 15"/>
          <p:cNvSpPr/>
          <p:nvPr/>
        </p:nvSpPr>
        <p:spPr>
          <a:xfrm>
            <a:off x="6315709" y="1325880"/>
            <a:ext cx="502923" cy="502923"/>
          </a:xfrm>
          <a:prstGeom prst="ellipse">
            <a:avLst/>
          </a:prstGeom>
          <a:solidFill>
            <a:srgbClr val="6BD7A0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3" name="TextBox 16"/>
          <p:cNvSpPr txBox="1"/>
          <p:nvPr/>
        </p:nvSpPr>
        <p:spPr>
          <a:xfrm>
            <a:off x="6343141" y="1425700"/>
            <a:ext cx="448057" cy="303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b="1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</a:p>
        </p:txBody>
      </p:sp>
      <p:sp>
        <p:nvSpPr>
          <p:cNvPr id="124" name="TextBox 17"/>
          <p:cNvSpPr txBox="1"/>
          <p:nvPr/>
        </p:nvSpPr>
        <p:spPr>
          <a:xfrm>
            <a:off x="6937501" y="1344166"/>
            <a:ext cx="4745738" cy="2270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2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</a:p>
        </p:txBody>
      </p:sp>
      <p:sp>
        <p:nvSpPr>
          <p:cNvPr id="125" name="TextBox 18"/>
          <p:cNvSpPr txBox="1"/>
          <p:nvPr/>
        </p:nvSpPr>
        <p:spPr>
          <a:xfrm>
            <a:off x="6297421" y="1965961"/>
            <a:ext cx="5340097" cy="8727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15000"/>
              </a:lnSpc>
              <a:defRPr sz="11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</a:p>
        </p:txBody>
      </p:sp>
      <p:sp>
        <p:nvSpPr>
          <p:cNvPr id="126" name="TextBox 19"/>
          <p:cNvSpPr txBox="1"/>
          <p:nvPr/>
        </p:nvSpPr>
        <p:spPr>
          <a:xfrm>
            <a:off x="399540" y="3474720"/>
            <a:ext cx="11375139" cy="2649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400">
                <a:solidFill>
                  <a:srgbClr val="5BC4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</a:p>
        </p:txBody>
      </p:sp>
      <p:sp>
        <p:nvSpPr>
          <p:cNvPr id="127" name="Rounded Rectangle 20"/>
          <p:cNvSpPr/>
          <p:nvPr/>
        </p:nvSpPr>
        <p:spPr>
          <a:xfrm>
            <a:off x="372108" y="3931920"/>
            <a:ext cx="2194563" cy="1371602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8" name="Oval 21"/>
          <p:cNvSpPr/>
          <p:nvPr/>
        </p:nvSpPr>
        <p:spPr>
          <a:xfrm>
            <a:off x="536701" y="4069079"/>
            <a:ext cx="457203" cy="457203"/>
          </a:xfrm>
          <a:prstGeom prst="ellipse">
            <a:avLst/>
          </a:prstGeom>
          <a:solidFill>
            <a:srgbClr val="F38BA8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9" name="TextBox 22"/>
          <p:cNvSpPr txBox="1"/>
          <p:nvPr/>
        </p:nvSpPr>
        <p:spPr>
          <a:xfrm>
            <a:off x="564133" y="4101591"/>
            <a:ext cx="402338" cy="3921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</a:p>
        </p:txBody>
      </p:sp>
      <p:sp>
        <p:nvSpPr>
          <p:cNvPr id="130" name="TextBox 23"/>
          <p:cNvSpPr txBox="1"/>
          <p:nvPr/>
        </p:nvSpPr>
        <p:spPr>
          <a:xfrm>
            <a:off x="1112774" y="4069079"/>
            <a:ext cx="1417322" cy="2114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1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</a:p>
        </p:txBody>
      </p:sp>
      <p:sp>
        <p:nvSpPr>
          <p:cNvPr id="131" name="TextBox 24"/>
          <p:cNvSpPr txBox="1"/>
          <p:nvPr/>
        </p:nvSpPr>
        <p:spPr>
          <a:xfrm>
            <a:off x="564132" y="4617720"/>
            <a:ext cx="1920244" cy="1842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9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</a:p>
        </p:txBody>
      </p:sp>
      <p:sp>
        <p:nvSpPr>
          <p:cNvPr id="132" name="Rounded Rectangle 25"/>
          <p:cNvSpPr/>
          <p:nvPr/>
        </p:nvSpPr>
        <p:spPr>
          <a:xfrm>
            <a:off x="2621533" y="3931920"/>
            <a:ext cx="2194562" cy="1371602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3" name="Oval 26"/>
          <p:cNvSpPr/>
          <p:nvPr/>
        </p:nvSpPr>
        <p:spPr>
          <a:xfrm>
            <a:off x="2786126" y="4069079"/>
            <a:ext cx="457203" cy="457203"/>
          </a:xfrm>
          <a:prstGeom prst="ellipse">
            <a:avLst/>
          </a:prstGeom>
          <a:solidFill>
            <a:srgbClr val="F38BA8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4" name="TextBox 27"/>
          <p:cNvSpPr txBox="1"/>
          <p:nvPr/>
        </p:nvSpPr>
        <p:spPr>
          <a:xfrm>
            <a:off x="2813557" y="4101591"/>
            <a:ext cx="402338" cy="3921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</a:p>
        </p:txBody>
      </p:sp>
      <p:sp>
        <p:nvSpPr>
          <p:cNvPr id="135" name="TextBox 28"/>
          <p:cNvSpPr txBox="1"/>
          <p:nvPr/>
        </p:nvSpPr>
        <p:spPr>
          <a:xfrm>
            <a:off x="3362197" y="4069079"/>
            <a:ext cx="1417322" cy="2114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1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</a:p>
        </p:txBody>
      </p:sp>
      <p:sp>
        <p:nvSpPr>
          <p:cNvPr id="136" name="TextBox 29"/>
          <p:cNvSpPr txBox="1"/>
          <p:nvPr/>
        </p:nvSpPr>
        <p:spPr>
          <a:xfrm>
            <a:off x="2813557" y="4617720"/>
            <a:ext cx="1920241" cy="1842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9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</a:p>
        </p:txBody>
      </p:sp>
      <p:sp>
        <p:nvSpPr>
          <p:cNvPr id="137" name="Rounded Rectangle 30"/>
          <p:cNvSpPr/>
          <p:nvPr/>
        </p:nvSpPr>
        <p:spPr>
          <a:xfrm>
            <a:off x="4870958" y="3931920"/>
            <a:ext cx="2194562" cy="1371602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8" name="Oval 31"/>
          <p:cNvSpPr/>
          <p:nvPr/>
        </p:nvSpPr>
        <p:spPr>
          <a:xfrm>
            <a:off x="5035550" y="4069079"/>
            <a:ext cx="457200" cy="457203"/>
          </a:xfrm>
          <a:prstGeom prst="ellipse">
            <a:avLst/>
          </a:prstGeom>
          <a:solidFill>
            <a:srgbClr val="F38BA8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9" name="TextBox 32"/>
          <p:cNvSpPr txBox="1"/>
          <p:nvPr/>
        </p:nvSpPr>
        <p:spPr>
          <a:xfrm>
            <a:off x="5062982" y="4101591"/>
            <a:ext cx="402338" cy="3921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</a:p>
        </p:txBody>
      </p:sp>
      <p:sp>
        <p:nvSpPr>
          <p:cNvPr id="140" name="TextBox 33"/>
          <p:cNvSpPr txBox="1"/>
          <p:nvPr/>
        </p:nvSpPr>
        <p:spPr>
          <a:xfrm>
            <a:off x="5611621" y="4069079"/>
            <a:ext cx="1417322" cy="2114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1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</a:p>
        </p:txBody>
      </p:sp>
      <p:sp>
        <p:nvSpPr>
          <p:cNvPr id="141" name="TextBox 34"/>
          <p:cNvSpPr txBox="1"/>
          <p:nvPr/>
        </p:nvSpPr>
        <p:spPr>
          <a:xfrm>
            <a:off x="5062982" y="4617720"/>
            <a:ext cx="1920241" cy="1842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9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</a:p>
        </p:txBody>
      </p:sp>
      <p:sp>
        <p:nvSpPr>
          <p:cNvPr id="142" name="Rounded Rectangle 35"/>
          <p:cNvSpPr/>
          <p:nvPr/>
        </p:nvSpPr>
        <p:spPr>
          <a:xfrm>
            <a:off x="7120380" y="3931920"/>
            <a:ext cx="2194562" cy="1371602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3" name="Oval 36"/>
          <p:cNvSpPr/>
          <p:nvPr/>
        </p:nvSpPr>
        <p:spPr>
          <a:xfrm>
            <a:off x="7284973" y="4069079"/>
            <a:ext cx="457203" cy="457203"/>
          </a:xfrm>
          <a:prstGeom prst="ellipse">
            <a:avLst/>
          </a:prstGeom>
          <a:solidFill>
            <a:srgbClr val="F38BA8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4" name="TextBox 37"/>
          <p:cNvSpPr txBox="1"/>
          <p:nvPr/>
        </p:nvSpPr>
        <p:spPr>
          <a:xfrm>
            <a:off x="7312404" y="4101591"/>
            <a:ext cx="402338" cy="3921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</a:p>
        </p:txBody>
      </p:sp>
      <p:sp>
        <p:nvSpPr>
          <p:cNvPr id="145" name="TextBox 38"/>
          <p:cNvSpPr txBox="1"/>
          <p:nvPr/>
        </p:nvSpPr>
        <p:spPr>
          <a:xfrm>
            <a:off x="7861044" y="4069079"/>
            <a:ext cx="1417323" cy="2114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1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</a:p>
        </p:txBody>
      </p:sp>
      <p:sp>
        <p:nvSpPr>
          <p:cNvPr id="146" name="TextBox 39"/>
          <p:cNvSpPr txBox="1"/>
          <p:nvPr/>
        </p:nvSpPr>
        <p:spPr>
          <a:xfrm>
            <a:off x="7312404" y="4617720"/>
            <a:ext cx="1920241" cy="1842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9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</a:p>
        </p:txBody>
      </p:sp>
      <p:sp>
        <p:nvSpPr>
          <p:cNvPr id="147" name="Rounded Rectangle 40"/>
          <p:cNvSpPr/>
          <p:nvPr/>
        </p:nvSpPr>
        <p:spPr>
          <a:xfrm>
            <a:off x="9369806" y="3931920"/>
            <a:ext cx="2194562" cy="1371602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8" name="Oval 41"/>
          <p:cNvSpPr/>
          <p:nvPr/>
        </p:nvSpPr>
        <p:spPr>
          <a:xfrm>
            <a:off x="9534397" y="4069079"/>
            <a:ext cx="457203" cy="457203"/>
          </a:xfrm>
          <a:prstGeom prst="ellipse">
            <a:avLst/>
          </a:prstGeom>
          <a:solidFill>
            <a:srgbClr val="F38BA8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9" name="TextBox 42"/>
          <p:cNvSpPr txBox="1"/>
          <p:nvPr/>
        </p:nvSpPr>
        <p:spPr>
          <a:xfrm>
            <a:off x="9561828" y="4146041"/>
            <a:ext cx="402338" cy="303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</a:p>
        </p:txBody>
      </p:sp>
      <p:sp>
        <p:nvSpPr>
          <p:cNvPr id="150" name="TextBox 43"/>
          <p:cNvSpPr txBox="1"/>
          <p:nvPr/>
        </p:nvSpPr>
        <p:spPr>
          <a:xfrm>
            <a:off x="10110468" y="4069079"/>
            <a:ext cx="1417322" cy="2114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1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</a:p>
        </p:txBody>
      </p:sp>
      <p:sp>
        <p:nvSpPr>
          <p:cNvPr id="151" name="TextBox 44"/>
          <p:cNvSpPr txBox="1"/>
          <p:nvPr/>
        </p:nvSpPr>
        <p:spPr>
          <a:xfrm>
            <a:off x="9561828" y="4617720"/>
            <a:ext cx="1920241" cy="1842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9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</a:p>
        </p:txBody>
      </p:sp>
      <p:sp>
        <p:nvSpPr>
          <p:cNvPr id="152" name="Rounded Rectangle 45"/>
          <p:cNvSpPr/>
          <p:nvPr/>
        </p:nvSpPr>
        <p:spPr>
          <a:xfrm>
            <a:off x="372108" y="5532120"/>
            <a:ext cx="11430002" cy="777242"/>
          </a:xfrm>
          <a:prstGeom prst="roundRect">
            <a:avLst>
              <a:gd name="adj" fmla="val 16667"/>
            </a:avLst>
          </a:prstGeom>
          <a:solidFill>
            <a:srgbClr val="F38BA8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3" name="TextBox 46"/>
          <p:cNvSpPr txBox="1"/>
          <p:nvPr/>
        </p:nvSpPr>
        <p:spPr>
          <a:xfrm>
            <a:off x="399540" y="5788276"/>
            <a:ext cx="11375139" cy="2649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b="1" i="1" sz="14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53" name="Rectangle 1"/>
          <p:cNvSpPr/>
          <p:nvPr/>
        </p:nvSpPr>
        <p:spPr>
          <a:xfrm>
            <a:off x="-1" y="-1"/>
            <a:ext cx="12191697" cy="868681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 wrap="square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도메인 맵 &amp; 데이터 흐름 (1/2)</a:t>
            </a:r>
          </a:p>
        </p:txBody>
      </p:sp>
      <p:sp>
        <p:nvSpPr>
          <p:cNvPr id="454" name="TextBox 2"/>
          <p:cNvSpPr txBox="1"/>
          <p:nvPr/>
        </p:nvSpPr>
        <p:spPr>
          <a:xfrm>
            <a:off x="457200" y="227454"/>
            <a:ext cx="10058400" cy="441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 wrap="square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>
              <a:defRPr>
                <a:solidFill/>
              </a:defRPr>
            </a:pPr>
            <a:r>
              <a:t>• 도메인: 주식·뉴스·SNS·재무</a:t>
            </a:r>
          </a:p>
          <a:p>
            <a:pPr>
              <a:defRPr/>
            </a:pPr>
            <a:r>
              <a:t>• 데이터 흐름: 정보 수집 → 분석 → 판단 → 추천</a:t>
            </a:r>
          </a:p>
          <a:p>
            <a:pPr>
              <a:defRPr/>
            </a:pPr>
            <a:r>
              <a:t>• 역할: 각 단계는 역할별 AI 에이전트가 협업해 수행</a:t>
            </a:r>
          </a:p>
        </p:txBody>
      </p:sp>
      <p:sp>
        <p:nvSpPr>
          <p:cNvPr id="455" name="TextBox 3"/>
          <p:cNvSpPr txBox="1"/>
          <p:nvPr/>
        </p:nvSpPr>
        <p:spPr>
          <a:xfrm>
            <a:off x="10698480" y="309879"/>
            <a:ext cx="1280162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300">
                <a:solidFill>
                  <a:srgbClr val="CCDDE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</a:p>
        </p:txBody>
      </p:sp>
      <p:sp>
        <p:nvSpPr>
          <p:cNvPr id="456" name="TextBox 4"/>
          <p:cNvSpPr txBox="1"/>
          <p:nvPr/>
        </p:nvSpPr>
        <p:spPr>
          <a:xfrm>
            <a:off x="466343" y="1060702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</a:p>
        </p:txBody>
      </p:sp>
      <p:sp>
        <p:nvSpPr>
          <p:cNvPr id="457" name="TextBox 5"/>
          <p:cNvSpPr txBox="1"/>
          <p:nvPr/>
        </p:nvSpPr>
        <p:spPr>
          <a:xfrm>
            <a:off x="457198" y="1635117"/>
            <a:ext cx="11274556" cy="2663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</a:p>
        </p:txBody>
      </p:sp>
      <p:sp>
        <p:nvSpPr>
          <p:cNvPr id="458" name="TextBox 6"/>
          <p:cNvSpPr txBox="1"/>
          <p:nvPr/>
        </p:nvSpPr>
        <p:spPr>
          <a:xfrm>
            <a:off x="457198" y="2053065"/>
            <a:ext cx="11274556" cy="2663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</a:p>
        </p:txBody>
      </p:sp>
      <p:sp>
        <p:nvSpPr>
          <p:cNvPr id="459" name="TextBox 7"/>
          <p:cNvSpPr txBox="1"/>
          <p:nvPr/>
        </p:nvSpPr>
        <p:spPr>
          <a:xfrm>
            <a:off x="457198" y="2471012"/>
            <a:ext cx="11274556" cy="266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</a:p>
        </p:txBody>
      </p:sp>
      <p:sp>
        <p:nvSpPr>
          <p:cNvPr id="460" name="TextBox 8"/>
          <p:cNvSpPr txBox="1"/>
          <p:nvPr/>
        </p:nvSpPr>
        <p:spPr>
          <a:xfrm>
            <a:off x="457198" y="2888963"/>
            <a:ext cx="11274556" cy="2663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</a:p>
        </p:txBody>
      </p:sp>
      <p:sp>
        <p:nvSpPr>
          <p:cNvPr id="461" name="TextBox 9"/>
          <p:cNvSpPr txBox="1"/>
          <p:nvPr/>
        </p:nvSpPr>
        <p:spPr>
          <a:xfrm>
            <a:off x="466343" y="3361773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</a:p>
        </p:txBody>
      </p:sp>
      <p:grpSp>
        <p:nvGrpSpPr>
          <p:cNvPr id="464" name="Rectangle 10"/>
          <p:cNvGrpSpPr/>
          <p:nvPr/>
        </p:nvGrpSpPr>
        <p:grpSpPr>
          <a:xfrm>
            <a:off x="457198" y="3936185"/>
            <a:ext cx="11274556" cy="2621284"/>
            <a:chOff x="0" y="0"/>
            <a:chExt cx="11274555" cy="2621283"/>
          </a:xfrm>
        </p:grpSpPr>
        <p:sp>
          <p:nvSpPr>
            <p:cNvPr id="462" name="직사각형"/>
            <p:cNvSpPr/>
            <p:nvPr/>
          </p:nvSpPr>
          <p:spPr>
            <a:xfrm>
              <a:off x="-1" y="-1"/>
              <a:ext cx="11274556" cy="2621284"/>
            </a:xfrm>
            <a:prstGeom prst="rect">
              <a:avLst/>
            </a:prstGeom>
            <a:solidFill>
              <a:srgbClr val="2D2D2D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463" name="HTTP Request…"/>
            <p:cNvSpPr txBox="1"/>
            <p:nvPr/>
          </p:nvSpPr>
          <p:spPr>
            <a:xfrm>
              <a:off x="45719" y="114839"/>
              <a:ext cx="3532400" cy="23916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91438" tIns="91438" rIns="91438" bIns="91438" numCol="1" anchor="ctr">
              <a:spAutoFit/>
            </a:bodyPr>
            <a:lstStyle/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HTTP Request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▼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FastAPI Router (Inbound Adapter)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▼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UseCase 실행 (Application)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▼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Port 호출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├─▶ Repository → SQLAlchemy → PostgreSQL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├─▶ External Client → OpenAI / DART / yfinance / SEC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└─▶ Cache Adapter → Redis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▼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Domain Entity 조작 (순수 Python)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▼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Response DTO 변환 → HTTP Response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맑은 고딕"/>
        <a:ea typeface="맑은 고딕"/>
        <a:cs typeface="맑은 고딕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맑은 고딕"/>
        <a:ea typeface="맑은 고딕"/>
        <a:cs typeface="맑은 고딕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