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" y="857250"/>
            <a:ext cx="12070080" cy="4114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Antelligen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AI Multi-Agent 기반 투자 인텔리전스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731"/>
            <a:ext cx="1371600" cy="91211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086100"/>
            <a:ext cx="1371600" cy="9121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5669280" cy="733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736" y="1325651"/>
            <a:ext cx="503529" cy="50269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3257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2576" y="1097280"/>
            <a:ext cx="566928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5456" y="1325651"/>
            <a:ext cx="503529" cy="50269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6448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1280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5872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0704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5296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0128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4720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9552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34144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5532348"/>
            <a:ext cx="11430000" cy="77701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서비스 개발 동기 및 목적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왜 우리는 멀티 에이전트인가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단일 LLM 서비스의 구조적 한계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복잡한 문제를 체계적으로 분해하기 어렵다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데이터 수집·분석·의사결정이 한 모델에 과도 의존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다양한 도메인(주식·뉴스·SNS·재무) 통합 반영 어려움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현실의 의사결정은 협업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정보 수집 → 분석 → 판단 → 추천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여러 전문가의 협업 형태로 이루어짐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기존 AI 시스템은 이를 반영하지 못함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Antelligen의 5가지 목표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구조적 AI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데이터·분석·결정 협업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확장 가능한 아키텍처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기능 추가 영향 최소화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현실적 협업 흐름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사람의 업무를 AI 협업으로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사용자 맞춤 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성향·관심 종목 개인화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자동화·효율성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반복 분석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736" y="1280388"/>
            <a:ext cx="10972800" cy="137160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9136" y="2926308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83536" y="4572228"/>
            <a:ext cx="7315200" cy="13716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4736" y="1280388"/>
            <a:ext cx="109728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 시장 및 고객 요구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TAM — 글로벌 AI 에이전트 시장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22" y="1874517"/>
            <a:ext cx="10917936" cy="204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$76B (2025) → $1,820B (2033) · CAGR ≈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SAM — 국내 AI / BFSI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6822" y="3520440"/>
            <a:ext cx="9089136" cy="214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$5.47B (2024) → $53.87B (2032) · 알고리즘 트레이딩·사기 탐지·리스크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SOM — 국내 금융 AI SW + 클라우드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1222" y="5166359"/>
            <a:ext cx="7260336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AI SW 48.5% · 클라우드 34.9% · SME + 개인 투자자 타겟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예측 분석·의사결정 시장 — 2030년 약 $82.35B 규모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3749040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6336" y="1371600"/>
            <a:ext cx="64008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8665" y="1097280"/>
            <a:ext cx="3749040" cy="733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3145" y="1371600"/>
            <a:ext cx="640080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425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44255" y="1097280"/>
            <a:ext cx="374904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8736" y="1371600"/>
            <a:ext cx="64008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856" y="5120868"/>
            <a:ext cx="11430000" cy="128038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고객의 핵심 Pain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MAS(Multi-Agent System) 도입 고객의 3대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4022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40" y="2148838"/>
            <a:ext cx="3694178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멀티 에이전트 = 블랙박스화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실패 원인 파악 어려움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Tracing · 의사결정 시각화 · Tool 사용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0221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5741" y="2148838"/>
            <a:ext cx="3694177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Cost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5741" y="2468878"/>
            <a:ext cx="3694177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비용 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토큰 비용 급증 (Runaway Cost)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비효율 에이전트 루프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비용 추적 · 예산 관리 · 작업 최적화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421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1940" y="2148838"/>
            <a:ext cx="3694177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금융 데이터 민감성 / PII 유출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Prompt Injection 위험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데이터 마스킹 · 정책 필터링 ·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540" y="5212079"/>
            <a:ext cx="11375139" cy="29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💡  핵심 인사이트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“신뢰와 통제가 없는 AI는 금융에서 실패한다”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731"/>
            <a:ext cx="1371600" cy="91211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108731"/>
            <a:ext cx="1371600" cy="9121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Part 2. 실현 가능성 (Solution)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689707"/>
            <a:ext cx="11275161" cy="19202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849188"/>
            <a:ext cx="11275161" cy="4142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89707"/>
            <a:ext cx="11275161" cy="19202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서비스 개발 및 문제점 해결 방안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데이터 신뢰도·커버리지 해결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772107"/>
            <a:ext cx="11275161" cy="23365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72107"/>
            <a:ext cx="11275161" cy="233652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서비스 개발 및 문제점 해결 방안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운영·비용·UX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" y="4485097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6대 해결 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8" y="5002573"/>
            <a:ext cx="11274556" cy="1657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추상은 도메인에서, 실행은 어댑터에서</a:t>
            </a:r>
          </a:p>
          <a:p>
            <a:r>
              <a:t>• 시간을 캐시로 사면 LLM 비용은 떨어진다</a:t>
            </a:r>
          </a:p>
          <a:p>
            <a:r>
              <a:t>• 부분 실패는 기능, 전체 실패는 버그</a:t>
            </a:r>
          </a:p>
          <a:p>
            <a:r>
              <a:t>• 신호의 품질…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554708"/>
            <a:ext cx="73152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856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856" y="2267940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856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981172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694404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56" y="3694404"/>
            <a:ext cx="73152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4015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4015" y="1554708"/>
            <a:ext cx="73152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4015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4015" y="2267940"/>
            <a:ext cx="73152" cy="63985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4015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015" y="2981172"/>
            <a:ext cx="73152" cy="63985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4015" y="3694404"/>
            <a:ext cx="566928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4015" y="3694404"/>
            <a:ext cx="73152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937760"/>
            <a:ext cx="1143000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경쟁사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기술 프레임워크 vs 서비스형 플랫폼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#7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41" y="1097280"/>
            <a:ext cx="561441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🔧  기술 프레임워크 경쟁자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21" y="1773682"/>
            <a:ext cx="2322579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LangChain / LangGraph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861" y="1775585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표준 프레임워크 · 우리도 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21" y="2486912"/>
            <a:ext cx="2322579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CrewAI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Role-based 에이전트 · 단순 협업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21" y="3200145"/>
            <a:ext cx="2322579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AutoGen (MS)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9861" y="3202048"/>
            <a:ext cx="2962657" cy="1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대화형 에이전트 · 연구용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421" y="3913378"/>
            <a:ext cx="2322579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Semantic Kernel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9861" y="3915281"/>
            <a:ext cx="296265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MS Copilot 통합 중심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1702" y="1097280"/>
            <a:ext cx="5614417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🌐  서비스형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582" y="1773682"/>
            <a:ext cx="2322578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Lindy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2021" y="1775585"/>
            <a:ext cx="2962658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노코드 AI 빌더 · 빠른 배포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4582" y="2486912"/>
            <a:ext cx="2322578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AgentGPT / AutoGPT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12021" y="2488817"/>
            <a:ext cx="2962658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 기반 자동 실행 (프로토타입)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4582" y="3195254"/>
            <a:ext cx="2322578" cy="2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기존 금융 도구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2021" y="3202048"/>
            <a:ext cx="2962658" cy="1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알고리즘 트레이딩 중심 · 보안 강화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4582" y="3913378"/>
            <a:ext cx="2322578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Antelligen (Ours)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2021" y="3915281"/>
            <a:ext cx="2962658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검증 가능한 의사결정 과정 제공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9540" y="5029199"/>
            <a:ext cx="1137513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시장의 빈 공간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540" y="5440679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“AI 빌더”와 “트레이딩 도구”는 많지만,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9540" y="5852159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‘검증 가능한 의사결정 과정’을 제공하는 서비스는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374904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8665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8665" y="1097280"/>
            <a:ext cx="374904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4255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44255" y="1097280"/>
            <a:ext cx="3749040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5486400"/>
            <a:ext cx="11430000" cy="91417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856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서비스 차별화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차별화 3축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#8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862" y="1233930"/>
            <a:ext cx="859538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8261" y="1166622"/>
            <a:ext cx="241401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신뢰성 / 거버넌스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8261" y="1485200"/>
            <a:ext cx="2414018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핵심 경쟁력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990" y="1874518"/>
            <a:ext cx="3383280" cy="105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Tracing — LangSmith로 LLM I/O · latency 추적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Source Tier 가중치 — DART 1.0 · Bloom…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0060" y="1233930"/>
            <a:ext cx="859538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4460" y="1166622"/>
            <a:ext cx="241401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고도화된 데이터 통합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4460" y="1485200"/>
            <a:ext cx="2414019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넓이 × 깊이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1190" y="1874518"/>
            <a:ext cx="3383282" cy="87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심층 RAG — DART 사업보고서 → 사업개요 LLM 요약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5개 멀티 에이전트 (News·Disclosure·Finance·Sentim…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6261" y="1233930"/>
            <a:ext cx="859538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0661" y="1166622"/>
            <a:ext cx="241401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UX 차별화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661" y="1485200"/>
            <a:ext cx="2414019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본질 파악, 무결성, 간결성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7390" y="1874518"/>
            <a:ext cx="3383282" cy="672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사업개요 카드 — ‘이 회사 본질’ 즉시 파악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부분 실패 표시 — ‘공시 X, 뉴스+재무로 BULLISH’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한국·미국 종목 동일 UI…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9540" y="5811137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“검증 가능한 의사결정 과정과 안전한 실행 구조를 제공하는 서비스가 시장 승자가 된다”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731"/>
            <a:ext cx="1371600" cy="91211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108731"/>
            <a:ext cx="1371600" cy="9121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Part 3. 성장 전략 (Scale 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188491"/>
            <a:ext cx="2789529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0860" y="1417548"/>
            <a:ext cx="731520" cy="73174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15056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649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6496" y="1188491"/>
            <a:ext cx="2789529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5500" y="1417548"/>
            <a:ext cx="731520" cy="731748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9696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113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1136" y="1188491"/>
            <a:ext cx="2789529" cy="7338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70140" y="1417548"/>
            <a:ext cx="731520" cy="73174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4335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77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5776" y="1188491"/>
            <a:ext cx="2789529" cy="733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04780" y="1417548"/>
            <a:ext cx="731520" cy="731748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856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297908"/>
            <a:ext cx="73152" cy="9141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7225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7225" y="4297908"/>
            <a:ext cx="73152" cy="91417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1376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1376" y="4297908"/>
            <a:ext cx="73152" cy="91417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856" y="5440451"/>
            <a:ext cx="11430000" cy="91417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" y="0"/>
            <a:ext cx="12179808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" y="857250"/>
            <a:ext cx="12179808" cy="54864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185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시장 진입 전략 및 사용자 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타겟 → 가격 → 채널 →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#9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8241" y="1529841"/>
            <a:ext cx="676659" cy="506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41" y="2285999"/>
            <a:ext cx="2734057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1차 타겟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00" y="2697478"/>
            <a:ext cx="2459739" cy="35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‘이 종목이 오늘 왜 떨어졌지?’를 검색하는 개인 투자자 — 차트+사건+원인 한 화면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2880" y="1529841"/>
            <a:ext cx="676658" cy="506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4181" y="2285999"/>
            <a:ext cx="273405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2차 타겟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1341" y="2697478"/>
            <a:ext cx="2459738" cy="35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신입 애널리스트 / 투자 콘텐츠 크리에이터 / 학생 투자 동아리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7521" y="1529841"/>
            <a:ext cx="676658" cy="506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68821" y="2285999"/>
            <a:ext cx="273405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가격 차별화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5982" y="2697478"/>
            <a:ext cx="2459736" cy="36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블룸버그 월 200만 원+ → 한국 공시 중심 + 합리적 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2161" y="1529841"/>
            <a:ext cx="676659" cy="506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3461" y="2285999"/>
            <a:ext cx="273405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플랫폼 진화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0621" y="2697478"/>
            <a:ext cx="2459738" cy="20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Web → PWA(홈 화면 추가) → 모바일 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9540" y="3749037"/>
            <a:ext cx="11375139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🚀  진입 채널 및 사용자 확보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420" y="4343399"/>
            <a:ext cx="3328417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SEO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420" y="4709159"/>
            <a:ext cx="3328417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종목별 ‘왜 떨어졌나’ 페이지 자동 생성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7182" y="4343399"/>
            <a:ext cx="332841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커뮤니티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7182" y="4709159"/>
            <a:ext cx="3328416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디스코드 / 네이버 종목 카페 / 주식 갤러리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1939" y="4343399"/>
            <a:ext cx="332841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인플루언서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1939" y="4709159"/>
            <a:ext cx="3328416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투자 유튜버 협업 + 분석 데이터 콘텐츠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9540" y="5711830"/>
            <a:ext cx="11375139" cy="37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Web  →  PWA  →  Mobile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523847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948254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72660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23847"/>
            <a:ext cx="11275161" cy="833247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48254"/>
            <a:ext cx="11275161" cy="833247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목표 성과 (KPI)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#10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사용량 (Engagement)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" y="2485134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품질 (Quality)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" y="3909567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비용 효율 (Efficiency)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" y="5334000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사업성 (Business)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8" y="5797297"/>
            <a:ext cx="11274556" cy="82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유료 전환율 3%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월 매출 100만 원 (1차 마일스톤)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앱 스토어 출시 (iOS / Android)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