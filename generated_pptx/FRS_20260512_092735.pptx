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10972800" cy="54864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92000" cy="411480"/>
          </a:xfrm>
          <a:prstGeom prst="rect">
            <a:avLst/>
          </a:prstGeom>
          <a:solidFill>
            <a:srgbClr val="F9D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Antelligen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AI Multi-Agent 기반 투자 인텔리전스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“AI의 판단을 사람이 검증하고 통제하는 구조”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발표일: 2026-05-02   |   팀: Antelligen (7인)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154680"/>
            <a:ext cx="1371600" cy="20574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Part 1. 문제 인식 (Problem)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85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32576" y="1097280"/>
            <a:ext cx="5669280" cy="21945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71856" y="1920240"/>
            <a:ext cx="5669280" cy="20574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서비스 개발 동기 및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왜 우리는 멀티 에이전트인가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단일 LLM 서비스의 구조적 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복잡한 문제 분해 어려움</a:t>
            </a:r>
          </a:p>
          <a:p>
            <a:r>
              <a:t>• 데이터 수집·분석·의사결정이 한 모델에 과도 의존</a:t>
            </a:r>
          </a:p>
          <a:p>
            <a:r>
              <a:t>• 도메인(주식·뉴스·SNS·재무) 통합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현실의 의사결정은 협업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정보 수집 → 분석 → 판단 → 추천</a:t>
            </a:r>
          </a:p>
          <a:p>
            <a:r>
              <a:t>• 여러 전문가의 협업 형태</a:t>
            </a:r>
          </a:p>
          <a:p>
            <a:r>
              <a:t>• 역할별 에이전트로 현실 흐름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Antelligen의 5가지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구조적 AI 시스템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데이터·분석·결정의 에이전트 협업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확장 가능한 아키텍처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기능 추가 시 영향 최소화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현실적 협업 흐름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사람의 업무를 AI 협업으로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사용자 맞춤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성향·관심 종목 개인화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자동화·효율성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반복 분석 자동화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9136" y="2926308"/>
            <a:ext cx="9144000" cy="1371600"/>
          </a:xfrm>
          <a:prstGeom prst="rect">
            <a:avLst/>
          </a:prstGeom>
          <a:solidFill>
            <a:srgbClr val="5B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83536" y="4572228"/>
            <a:ext cx="7315200" cy="1371600"/>
          </a:xfrm>
          <a:prstGeom prst="rect">
            <a:avLst/>
          </a:prstGeom>
          <a:solidFill>
            <a:srgbClr val="6BD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TAM · SAM ·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목표 시장 및 고객 요구 사항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TAM — 글로벌 AI 에이전트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22" y="1874517"/>
            <a:ext cx="10917936" cy="204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TAM : $76B (2025) → $1,820B (2033) · CAGR ≈ 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 — 국내 AI / BFSI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6822" y="3520440"/>
            <a:ext cx="9089136" cy="214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 : $5.47B (2024) → $53.87B (2032) · 알고리즘 트레이딩·사기탐지·리스크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SOM — 국내 금융 AI SW + 클라우드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1222" y="5166359"/>
            <a:ext cx="7260336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SOM 구성 : AI SW 48.5% · 클라우드 34.9% · SME &amp; 개인 투자자 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예측 분석·의사결정 시장 — 2030년 약 $82.35B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71856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5866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44255" y="1097280"/>
            <a:ext cx="3749040" cy="3657371"/>
          </a:xfrm>
          <a:prstGeom prst="rect">
            <a:avLst/>
          </a:prstGeom>
          <a:solidFill>
            <a:srgbClr val="163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고객의 핵심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MAS 도입 고객의 3대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4022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40" y="2148838"/>
            <a:ext cx="3694178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가시성 / 디버깅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710" y="3108961"/>
            <a:ext cx="3383280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멀티 에이전트 = 블랙박스화</a:t>
            </a:r>
          </a:p>
          <a:p>
            <a:r>
              <a:t>• 실패 원인 파악 어려움</a:t>
            </a:r>
          </a:p>
          <a:p>
            <a:r>
              <a:t>• 필요: Tracing · 의사결정 시각화 · Tool 사용 로그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0221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5741" y="2148838"/>
            <a:ext cx="3694177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Cost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5741" y="2468878"/>
            <a:ext cx="3694177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비용 통제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토큰 비용 급증 (Runaway Cost)</a:t>
            </a:r>
          </a:p>
          <a:p>
            <a:r>
              <a:t>• 비효율 에이전트 루프</a:t>
            </a:r>
          </a:p>
          <a:p>
            <a:r>
              <a:t>• 필요: 비용 추적 · 예산 관리 · 작업 최적화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6421" y="1470150"/>
            <a:ext cx="585218" cy="442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1940" y="2148838"/>
            <a:ext cx="3694177" cy="201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1940" y="2468878"/>
            <a:ext cx="3694177" cy="331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거버넌스 / 보안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금융 데이터 민감성 / PII 유출 우려</a:t>
            </a:r>
          </a:p>
          <a:p>
            <a:r>
              <a:t>• Prompt Injection 위험</a:t>
            </a:r>
          </a:p>
          <a:p>
            <a:r>
              <a:t>• 필요: 데이터 마스킹 · 정책 필터링 ·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40" y="5212079"/>
            <a:ext cx="11375139" cy="290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💡  핵심 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“신뢰와 통제가 없는 AI는 금융에서 실패한다”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